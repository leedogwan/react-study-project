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1675"/>
  <p:notesSz cx="6858000" cy="12191675"/>
  <p:embeddedFontLst>
    <p:embeddedFont>
      <p:font typeface="Nanum Gothic Coding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oV86VC0Sv5RcyZOJK5wJt+D4g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NanumGothicCoding-bold.fntdata"/><Relationship Id="rId16" Type="http://schemas.openxmlformats.org/officeDocument/2006/relationships/font" Target="fonts/NanumGothicCoding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f5796fdbd1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g3f5796fdbd1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f5796fdbd1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0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6"/>
          </a:solidFill>
          <a:ln cap="flat" cmpd="sng" w="12700">
            <a:solidFill>
              <a:srgbClr val="05080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01168" y="91440"/>
            <a:ext cx="1828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500"/>
              <a:buFont typeface="Nanum Gothic Coding"/>
              <a:buNone/>
            </a:pPr>
            <a:r>
              <a:rPr b="0" i="0" lang="en-US" sz="50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linux/presentation-template</a:t>
            </a:r>
            <a:endParaRPr b="0" i="0" sz="5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1594592" y="100584"/>
            <a:ext cx="41148" cy="41148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11695176" y="100584"/>
            <a:ext cx="41148" cy="41148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11795760" y="100584"/>
            <a:ext cx="41148" cy="41148"/>
          </a:xfrm>
          <a:prstGeom prst="ellipse">
            <a:avLst/>
          </a:prstGeom>
          <a:solidFill>
            <a:srgbClr val="00E676"/>
          </a:solidFill>
          <a:ln cap="flat" cmpd="sng" w="12700">
            <a:solidFill>
              <a:srgbClr val="00E67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502920" y="393192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900"/>
              <a:buFont typeface="Nanum Gothic Coding"/>
              <a:buNone/>
            </a:pPr>
            <a:r>
              <a:rPr b="1" i="0" lang="en-US" sz="900" u="none" cap="none" strike="noStrike">
                <a:solidFill>
                  <a:srgbClr val="00E67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$ ./present --repo react-study-project</a:t>
            </a:r>
            <a:endParaRPr b="0" i="0" sz="9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01168" y="6629400"/>
            <a:ext cx="18288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450"/>
              <a:buFont typeface="Nanum Gothic Coding"/>
              <a:buNone/>
            </a:pPr>
            <a:r>
              <a:rPr b="0" i="0" lang="en-US" sz="4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user@linux:~/react-study-project</a:t>
            </a:r>
            <a:endParaRPr b="0" i="0" sz="4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9555480" y="6620256"/>
            <a:ext cx="23774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450"/>
              <a:buFont typeface="Nanum Gothic Coding"/>
              <a:buNone/>
            </a:pPr>
            <a:r>
              <a:rPr b="0" i="0" lang="en-US" sz="4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01  |  npm run dev  |  react + vite</a:t>
            </a:r>
            <a:endParaRPr b="0" i="0" sz="4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38912" y="1078992"/>
            <a:ext cx="11109960" cy="4754880"/>
          </a:xfrm>
          <a:prstGeom prst="roundRect">
            <a:avLst>
              <a:gd fmla="val 577" name="adj"/>
            </a:avLst>
          </a:prstGeom>
          <a:solidFill>
            <a:srgbClr val="10151B"/>
          </a:solidFill>
          <a:ln cap="flat" cmpd="sng" w="12700">
            <a:solidFill>
              <a:srgbClr val="1B6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457200" y="1097280"/>
            <a:ext cx="11073384" cy="301752"/>
          </a:xfrm>
          <a:prstGeom prst="rect">
            <a:avLst/>
          </a:prstGeom>
          <a:solidFill>
            <a:srgbClr val="121D18"/>
          </a:solidFill>
          <a:ln cap="flat" cmpd="sng" w="12700">
            <a:solidFill>
              <a:srgbClr val="121D1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585216" y="1197864"/>
            <a:ext cx="50292" cy="50292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704088" y="1197864"/>
            <a:ext cx="50292" cy="50292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822960" y="1197864"/>
            <a:ext cx="50292" cy="50292"/>
          </a:xfrm>
          <a:prstGeom prst="ellipse">
            <a:avLst/>
          </a:prstGeom>
          <a:solidFill>
            <a:srgbClr val="00E676"/>
          </a:solidFill>
          <a:ln cap="flat" cmpd="sng" w="12700">
            <a:solidFill>
              <a:srgbClr val="00E67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1024128" y="1170432"/>
            <a:ext cx="1037844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550"/>
              <a:buFont typeface="Nanum Gothic Coding"/>
              <a:buNone/>
            </a:pPr>
            <a:r>
              <a:rPr b="0" i="0" lang="en-US" sz="5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presentation@react-study-project</a:t>
            </a:r>
            <a:endParaRPr b="0" i="0" sz="5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713232" y="2249424"/>
            <a:ext cx="6858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3200"/>
              <a:buFont typeface="Nanum Gothic Coding"/>
              <a:buNone/>
            </a:pPr>
            <a:r>
              <a:rPr b="1" i="0" lang="en-US" sz="32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&lt;REACT_STUDY_PROJECT&gt;</a:t>
            </a:r>
            <a:endParaRPr b="0" i="0" sz="32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731525" y="2907810"/>
            <a:ext cx="64008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1350"/>
              <a:buFont typeface="Nanum Gothic Coding"/>
              <a:buNone/>
            </a:pPr>
            <a:r>
              <a:rPr b="0" i="0" lang="en-US" sz="135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Linux terminal 스타일 개인 포트폴리오 / 학습 프로젝트</a:t>
            </a:r>
            <a:br>
              <a:rPr b="0" i="0" lang="en-US" sz="135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</a:br>
            <a:endParaRPr b="0" i="0" sz="1350" u="none" cap="none" strike="noStrike">
              <a:solidFill>
                <a:srgbClr val="A8B0A8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1350"/>
              <a:buFont typeface="Nanum Gothic Coding"/>
              <a:buNone/>
            </a:pPr>
            <a:r>
              <a:rPr lang="en-US" sz="1350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by 이도관</a:t>
            </a:r>
            <a:endParaRPr sz="1350">
              <a:solidFill>
                <a:srgbClr val="A8B0A8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8394192" y="2304288"/>
            <a:ext cx="100584" cy="484632"/>
          </a:xfrm>
          <a:prstGeom prst="rect">
            <a:avLst/>
          </a:prstGeom>
          <a:solidFill>
            <a:srgbClr val="00E676"/>
          </a:solidFill>
          <a:ln cap="flat" cmpd="sng" w="12700">
            <a:solidFill>
              <a:srgbClr val="00E67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731520" y="5230368"/>
            <a:ext cx="6217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720"/>
              <a:buFont typeface="Nanum Gothic Coding"/>
              <a:buNone/>
            </a:pPr>
            <a:r>
              <a:rPr b="0" i="0" lang="en-US" sz="720" u="none" cap="none" strike="noStrike">
                <a:solidFill>
                  <a:srgbClr val="00E67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[ OK ] repo loaded   [ OK ] routes mounted   [ OK ] shell ready</a:t>
            </a:r>
            <a:endParaRPr b="0" i="0" sz="72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06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6"/>
          </a:solidFill>
          <a:ln cap="flat" cmpd="sng" w="12700">
            <a:solidFill>
              <a:srgbClr val="05080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201168" y="91440"/>
            <a:ext cx="1828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500"/>
              <a:buFont typeface="Nanum Gothic Coding"/>
              <a:buNone/>
            </a:pPr>
            <a:r>
              <a:rPr b="0" i="0" lang="en-US" sz="50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linux/presentation-template</a:t>
            </a:r>
            <a:endParaRPr b="0" i="0" sz="5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1594592" y="100584"/>
            <a:ext cx="41148" cy="41148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11695176" y="100584"/>
            <a:ext cx="41148" cy="41148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11795760" y="100584"/>
            <a:ext cx="41148" cy="41148"/>
          </a:xfrm>
          <a:prstGeom prst="ellipse">
            <a:avLst/>
          </a:prstGeom>
          <a:solidFill>
            <a:srgbClr val="00E676"/>
          </a:solidFill>
          <a:ln cap="flat" cmpd="sng" w="12700">
            <a:solidFill>
              <a:srgbClr val="00E67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502920" y="393192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900"/>
              <a:buFont typeface="Nanum Gothic Coding"/>
              <a:buNone/>
            </a:pPr>
            <a:r>
              <a:rPr b="1" i="0" lang="en-US" sz="900" u="none" cap="none" strike="noStrike">
                <a:solidFill>
                  <a:srgbClr val="00E67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$ cat agenda.md</a:t>
            </a:r>
            <a:endParaRPr b="0" i="0" sz="9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201168" y="6629400"/>
            <a:ext cx="18288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450"/>
              <a:buFont typeface="Nanum Gothic Coding"/>
              <a:buNone/>
            </a:pPr>
            <a:r>
              <a:rPr b="0" i="0" lang="en-US" sz="4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user@linux:~/react-study-project</a:t>
            </a:r>
            <a:endParaRPr b="0" i="0" sz="4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9555480" y="6620256"/>
            <a:ext cx="23774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450"/>
              <a:buFont typeface="Nanum Gothic Coding"/>
              <a:buNone/>
            </a:pPr>
            <a:r>
              <a:rPr b="0" i="0" lang="en-US" sz="4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02  |  npm run dev  |  react + vite</a:t>
            </a:r>
            <a:endParaRPr b="0" i="0" sz="4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40080" y="1143000"/>
            <a:ext cx="6126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3000"/>
              <a:buFont typeface="Nanum Gothic Coding"/>
              <a:buNone/>
            </a:pPr>
            <a:r>
              <a:rPr b="1" i="0" lang="en-US" sz="30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&lt;</a:t>
            </a:r>
            <a:r>
              <a:rPr b="1" lang="en-US" sz="3000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CONTENTS</a:t>
            </a:r>
            <a:r>
              <a:rPr b="1" i="0" lang="en-US" sz="30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&gt;</a:t>
            </a:r>
            <a:endParaRPr b="0" i="0" sz="30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777240" y="2331720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1100"/>
              <a:buFont typeface="Nanum Gothic Coding"/>
              <a:buNone/>
            </a:pPr>
            <a:r>
              <a:rPr b="1" i="0" lang="en-US" sz="1100" u="none" cap="none" strike="noStrike">
                <a:solidFill>
                  <a:srgbClr val="00E67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417320" y="2313432"/>
            <a:ext cx="42976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400"/>
              <a:buFont typeface="Nanum Gothic Coding"/>
              <a:buNone/>
            </a:pPr>
            <a:r>
              <a:rPr b="0" i="0" lang="en-US" sz="14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프로젝트 개요와 목표</a:t>
            </a:r>
            <a:endParaRPr b="0" i="0" sz="14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cxnSp>
        <p:nvCxnSpPr>
          <p:cNvPr id="50" name="Google Shape;50;p2"/>
          <p:cNvCxnSpPr/>
          <p:nvPr/>
        </p:nvCxnSpPr>
        <p:spPr>
          <a:xfrm>
            <a:off x="777240" y="2770632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1D2A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2"/>
          <p:cNvSpPr/>
          <p:nvPr/>
        </p:nvSpPr>
        <p:spPr>
          <a:xfrm>
            <a:off x="777240" y="3081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C94C"/>
              </a:buClr>
              <a:buSzPts val="1100"/>
              <a:buFont typeface="Nanum Gothic Coding"/>
              <a:buNone/>
            </a:pPr>
            <a:r>
              <a:rPr b="1" i="0" lang="en-US" sz="1100" u="none" cap="none" strike="noStrike">
                <a:solidFill>
                  <a:srgbClr val="F2C94C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417320" y="3063240"/>
            <a:ext cx="42976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400"/>
              <a:buFont typeface="Nanum Gothic Coding"/>
              <a:buNone/>
            </a:pPr>
            <a:r>
              <a:rPr b="0" i="0" lang="en-US" sz="14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화면 전환 / 라우팅 구조</a:t>
            </a:r>
            <a:endParaRPr b="0" i="0" sz="14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cxnSp>
        <p:nvCxnSpPr>
          <p:cNvPr id="53" name="Google Shape;53;p2"/>
          <p:cNvCxnSpPr/>
          <p:nvPr/>
        </p:nvCxnSpPr>
        <p:spPr>
          <a:xfrm>
            <a:off x="777240" y="3520440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1D2A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2"/>
          <p:cNvSpPr/>
          <p:nvPr/>
        </p:nvSpPr>
        <p:spPr>
          <a:xfrm>
            <a:off x="777240" y="3831336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100"/>
              <a:buFont typeface="Nanum Gothic Coding"/>
              <a:buNone/>
            </a:pPr>
            <a:r>
              <a:rPr b="1" i="0" lang="en-US" sz="1100" u="none" cap="none" strike="noStrike">
                <a:solidFill>
                  <a:srgbClr val="C084FC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417320" y="3813048"/>
            <a:ext cx="42976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400"/>
              <a:buFont typeface="Nanum Gothic Coding"/>
              <a:buNone/>
            </a:pPr>
            <a:r>
              <a:rPr b="0" i="0" lang="en-US" sz="14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터미널 명령어 처리 흐름</a:t>
            </a:r>
            <a:endParaRPr b="0" i="0" sz="14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cxnSp>
        <p:nvCxnSpPr>
          <p:cNvPr id="56" name="Google Shape;56;p2"/>
          <p:cNvCxnSpPr/>
          <p:nvPr/>
        </p:nvCxnSpPr>
        <p:spPr>
          <a:xfrm>
            <a:off x="777240" y="4270248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1D2A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2"/>
          <p:cNvSpPr/>
          <p:nvPr/>
        </p:nvSpPr>
        <p:spPr>
          <a:xfrm>
            <a:off x="777240" y="4581144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Nanum Gothic Coding"/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417320" y="4562856"/>
            <a:ext cx="42976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400"/>
              <a:buFont typeface="Nanum Gothic Coding"/>
              <a:buNone/>
            </a:pPr>
            <a:r>
              <a:rPr b="0" i="0" lang="en-US" sz="14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핵심 페이지와 개선 방향</a:t>
            </a:r>
            <a:endParaRPr b="0" i="0" sz="14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cxnSp>
        <p:nvCxnSpPr>
          <p:cNvPr id="59" name="Google Shape;59;p2"/>
          <p:cNvCxnSpPr/>
          <p:nvPr/>
        </p:nvCxnSpPr>
        <p:spPr>
          <a:xfrm>
            <a:off x="777240" y="5020056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1D2A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p2"/>
          <p:cNvSpPr/>
          <p:nvPr/>
        </p:nvSpPr>
        <p:spPr>
          <a:xfrm>
            <a:off x="7452360" y="2057400"/>
            <a:ext cx="2971800" cy="3063240"/>
          </a:xfrm>
          <a:prstGeom prst="roundRect">
            <a:avLst>
              <a:gd fmla="val 923" name="adj"/>
            </a:avLst>
          </a:prstGeom>
          <a:solidFill>
            <a:srgbClr val="10151B"/>
          </a:solidFill>
          <a:ln cap="flat" cmpd="sng" w="12700">
            <a:solidFill>
              <a:srgbClr val="1B6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7470648" y="2075688"/>
            <a:ext cx="2935224" cy="301752"/>
          </a:xfrm>
          <a:prstGeom prst="rect">
            <a:avLst/>
          </a:prstGeom>
          <a:solidFill>
            <a:srgbClr val="121D18"/>
          </a:solidFill>
          <a:ln cap="flat" cmpd="sng" w="12700">
            <a:solidFill>
              <a:srgbClr val="121D1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7598664" y="2176272"/>
            <a:ext cx="50292" cy="50292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7717536" y="2176272"/>
            <a:ext cx="50292" cy="50292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7836408" y="2176272"/>
            <a:ext cx="50292" cy="50292"/>
          </a:xfrm>
          <a:prstGeom prst="ellipse">
            <a:avLst/>
          </a:prstGeom>
          <a:solidFill>
            <a:srgbClr val="00E676"/>
          </a:solidFill>
          <a:ln cap="flat" cmpd="sng" w="12700">
            <a:solidFill>
              <a:srgbClr val="00E67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8037576" y="2148840"/>
            <a:ext cx="224028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550"/>
              <a:buFont typeface="Nanum Gothic Coding"/>
              <a:buNone/>
            </a:pPr>
            <a:r>
              <a:rPr b="0" i="0" lang="en-US" sz="5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overview.sh</a:t>
            </a:r>
            <a:endParaRPr b="0" i="0" sz="5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7708392" y="2560320"/>
            <a:ext cx="2532888" cy="2404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880"/>
              <a:buFont typeface="Nanum Gothic Coding"/>
              <a:buNone/>
            </a:pPr>
            <a:r>
              <a:rPr b="0" i="0" lang="en-US" sz="88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$ tree -L 2 ./src</a:t>
            </a:r>
            <a:endParaRPr b="0" i="0" sz="88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880"/>
              <a:buFont typeface="Nanum Gothic Coding"/>
              <a:buNone/>
            </a:pPr>
            <a:r>
              <a:rPr b="0" i="0" lang="en-US" sz="88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components/</a:t>
            </a:r>
            <a:endParaRPr b="0" i="0" sz="88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880"/>
              <a:buFont typeface="Nanum Gothic Coding"/>
              <a:buNone/>
            </a:pPr>
            <a:r>
              <a:rPr b="0" i="0" lang="en-US" sz="88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BootSequence</a:t>
            </a:r>
            <a:endParaRPr b="0" i="0" sz="88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880"/>
              <a:buFont typeface="Nanum Gothic Coding"/>
              <a:buNone/>
            </a:pPr>
            <a:r>
              <a:rPr b="0" i="0" lang="en-US" sz="88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Terminal</a:t>
            </a:r>
            <a:endParaRPr b="0" i="0" sz="88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880"/>
              <a:buFont typeface="Nanum Gothic Coding"/>
              <a:buNone/>
            </a:pPr>
            <a:r>
              <a:rPr b="0" i="0" lang="en-US" sz="88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commands/</a:t>
            </a:r>
            <a:endParaRPr b="0" i="0" sz="88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880"/>
              <a:buFont typeface="Nanum Gothic Coding"/>
              <a:buNone/>
            </a:pPr>
            <a:r>
              <a:rPr b="0" i="0" lang="en-US" sz="88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commands.js</a:t>
            </a:r>
            <a:endParaRPr b="0" i="0" sz="88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880"/>
              <a:buFont typeface="Nanum Gothic Coding"/>
              <a:buNone/>
            </a:pPr>
            <a:r>
              <a:rPr b="0" i="0" lang="en-US" sz="88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layouts/</a:t>
            </a:r>
            <a:endParaRPr b="0" i="0" sz="88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880"/>
              <a:buFont typeface="Nanum Gothic Coding"/>
              <a:buNone/>
            </a:pPr>
            <a:r>
              <a:rPr b="0" i="0" lang="en-US" sz="88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TerminalLayout</a:t>
            </a:r>
            <a:endParaRPr b="0" i="0" sz="88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880"/>
              <a:buFont typeface="Nanum Gothic Coding"/>
              <a:buNone/>
            </a:pPr>
            <a:r>
              <a:rPr b="0" i="0" lang="en-US" sz="88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pages/</a:t>
            </a:r>
            <a:endParaRPr b="0" i="0" sz="88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880"/>
              <a:buFont typeface="Nanum Gothic Coding"/>
              <a:buNone/>
            </a:pPr>
            <a:r>
              <a:rPr b="0" i="0" lang="en-US" sz="88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Login / Register</a:t>
            </a:r>
            <a:endParaRPr b="0" i="0" sz="88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880"/>
              <a:buFont typeface="Nanum Gothic Coding"/>
              <a:buNone/>
            </a:pPr>
            <a:r>
              <a:rPr b="0" i="0" lang="en-US" sz="88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Hobby / Whoami</a:t>
            </a:r>
            <a:endParaRPr b="0" i="0" sz="88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06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6"/>
          </a:solidFill>
          <a:ln cap="flat" cmpd="sng" w="12700">
            <a:solidFill>
              <a:srgbClr val="05080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201168" y="91440"/>
            <a:ext cx="1828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500"/>
              <a:buFont typeface="Nanum Gothic Coding"/>
              <a:buNone/>
            </a:pPr>
            <a:r>
              <a:rPr b="0" i="0" lang="en-US" sz="50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linux/presentation-template</a:t>
            </a:r>
            <a:endParaRPr b="0" i="0" sz="5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1594592" y="100584"/>
            <a:ext cx="41148" cy="41148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11695176" y="100584"/>
            <a:ext cx="41148" cy="41148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11795760" y="100584"/>
            <a:ext cx="41148" cy="41148"/>
          </a:xfrm>
          <a:prstGeom prst="ellipse">
            <a:avLst/>
          </a:prstGeom>
          <a:solidFill>
            <a:srgbClr val="00E676"/>
          </a:solidFill>
          <a:ln cap="flat" cmpd="sng" w="12700">
            <a:solidFill>
              <a:srgbClr val="00E67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502920" y="393192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900"/>
              <a:buFont typeface="Nanum Gothic Coding"/>
              <a:buNone/>
            </a:pPr>
            <a:r>
              <a:rPr b="1" i="0" lang="en-US" sz="900" u="none" cap="none" strike="noStrike">
                <a:solidFill>
                  <a:srgbClr val="00E67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$ cat project-overview.md</a:t>
            </a:r>
            <a:endParaRPr b="0" i="0" sz="9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201168" y="6629400"/>
            <a:ext cx="18288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450"/>
              <a:buFont typeface="Nanum Gothic Coding"/>
              <a:buNone/>
            </a:pPr>
            <a:r>
              <a:rPr b="0" i="0" lang="en-US" sz="4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user@linux:~/react-study-project</a:t>
            </a:r>
            <a:endParaRPr b="0" i="0" sz="4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555480" y="6620256"/>
            <a:ext cx="23774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450"/>
              <a:buFont typeface="Nanum Gothic Coding"/>
              <a:buNone/>
            </a:pPr>
            <a:r>
              <a:rPr b="0" i="0" lang="en-US" sz="4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03  |  npm run dev  |  react + vite</a:t>
            </a:r>
            <a:endParaRPr b="0" i="0" sz="4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40080" y="1143000"/>
            <a:ext cx="6126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3000"/>
              <a:buFont typeface="Nanum Gothic Coding"/>
              <a:buNone/>
            </a:pPr>
            <a:r>
              <a:rPr b="1" i="0" lang="en-US" sz="30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&lt;PROJECT_OVERVIEW&gt;</a:t>
            </a:r>
            <a:endParaRPr b="0" i="0" sz="30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40080" y="1645920"/>
            <a:ext cx="6126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1250"/>
              <a:buFont typeface="Nanum Gothic Coding"/>
              <a:buNone/>
            </a:pPr>
            <a:r>
              <a:rPr b="0" i="0" lang="en-US" sz="125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Vite 기반 React 앱을 터미널처럼 보이고</a:t>
            </a:r>
            <a:r>
              <a:rPr b="0" i="0" lang="en-US" sz="125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동작하게 만든 프로젝트</a:t>
            </a:r>
            <a:endParaRPr b="0" i="0" sz="12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822960" y="2286000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1100"/>
              <a:buFont typeface="Nanum Gothic Coding"/>
              <a:buNone/>
            </a:pPr>
            <a:r>
              <a:rPr b="1" i="0" lang="en-US" sz="1100" u="none" cap="none" strike="noStrike">
                <a:solidFill>
                  <a:srgbClr val="00E67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1170432" y="2267712"/>
            <a:ext cx="5760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250"/>
              <a:buFont typeface="Nanum Gothic Coding"/>
              <a:buNone/>
            </a:pPr>
            <a:r>
              <a:rPr b="0" i="0" lang="en-US" sz="125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React Router로 Terminal </a:t>
            </a:r>
            <a:r>
              <a:rPr lang="en-US" sz="1250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페이지를</a:t>
            </a:r>
            <a:r>
              <a:rPr b="0" i="0" lang="en-US" sz="125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유지하고, Login/Register/Hobby/Whoami를 오버레이로 표시</a:t>
            </a:r>
            <a:endParaRPr b="0" i="0" sz="12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822960" y="2962656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1100"/>
              <a:buFont typeface="Nanum Gothic Coding"/>
              <a:buNone/>
            </a:pPr>
            <a:r>
              <a:rPr b="1" i="0" lang="en-US" sz="1100" u="none" cap="none" strike="noStrike">
                <a:solidFill>
                  <a:srgbClr val="00E67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1170432" y="2944368"/>
            <a:ext cx="5760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250"/>
              <a:buFont typeface="Nanum Gothic Coding"/>
              <a:buNone/>
            </a:pPr>
            <a:r>
              <a:rPr b="0" i="0" lang="en-US" sz="125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TypeIt </a:t>
            </a:r>
            <a:r>
              <a:rPr lang="en-US" sz="1250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라이브러리를</a:t>
            </a:r>
            <a:r>
              <a:rPr b="0" i="0" lang="en-US" sz="125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활용해 부팅 로그와 명령 출력이 실제 타이핑되는 느낌을 구현</a:t>
            </a:r>
            <a:endParaRPr b="0" i="0" sz="12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822960" y="3639312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1100"/>
              <a:buFont typeface="Nanum Gothic Coding"/>
              <a:buNone/>
            </a:pPr>
            <a:r>
              <a:rPr b="1" i="0" lang="en-US" sz="1100" u="none" cap="none" strike="noStrike">
                <a:solidFill>
                  <a:srgbClr val="00E67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1170432" y="3621024"/>
            <a:ext cx="5760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250"/>
              <a:buFont typeface="Nanum Gothic Coding"/>
              <a:buNone/>
            </a:pPr>
            <a:r>
              <a:rPr b="0" i="0" lang="en-US" sz="125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명령어 기반 UX: help, echo, clear, logout, hobby, whoami</a:t>
            </a:r>
            <a:endParaRPr b="0" i="0" sz="12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7452360" y="2148840"/>
            <a:ext cx="3291840" cy="2834640"/>
          </a:xfrm>
          <a:prstGeom prst="roundRect">
            <a:avLst>
              <a:gd fmla="val 968" name="adj"/>
            </a:avLst>
          </a:prstGeom>
          <a:solidFill>
            <a:srgbClr val="10151B"/>
          </a:solidFill>
          <a:ln cap="flat" cmpd="sng" w="12700">
            <a:solidFill>
              <a:srgbClr val="1B6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7470648" y="2167128"/>
            <a:ext cx="3255264" cy="301752"/>
          </a:xfrm>
          <a:prstGeom prst="rect">
            <a:avLst/>
          </a:prstGeom>
          <a:solidFill>
            <a:srgbClr val="121D18"/>
          </a:solidFill>
          <a:ln cap="flat" cmpd="sng" w="12700">
            <a:solidFill>
              <a:srgbClr val="121D1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7598664" y="2267712"/>
            <a:ext cx="50292" cy="50292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7717536" y="2267712"/>
            <a:ext cx="50292" cy="50292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7836408" y="2267712"/>
            <a:ext cx="50292" cy="50292"/>
          </a:xfrm>
          <a:prstGeom prst="ellipse">
            <a:avLst/>
          </a:prstGeom>
          <a:solidFill>
            <a:srgbClr val="00E676"/>
          </a:solidFill>
          <a:ln cap="flat" cmpd="sng" w="12700">
            <a:solidFill>
              <a:srgbClr val="00E67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8037576" y="2240280"/>
            <a:ext cx="256032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550"/>
              <a:buFont typeface="Nanum Gothic Coding"/>
              <a:buNone/>
            </a:pPr>
            <a:r>
              <a:rPr b="0" i="0" lang="en-US" sz="5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package.json</a:t>
            </a:r>
            <a:endParaRPr b="0" i="0" sz="5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7708392" y="2651760"/>
            <a:ext cx="2852928" cy="2176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E234"/>
              </a:buClr>
              <a:buSzPts val="950"/>
              <a:buFont typeface="Nanum Gothic Coding"/>
              <a:buNone/>
            </a:pPr>
            <a:r>
              <a:rPr b="0" i="0" lang="en-US" sz="950" u="none" cap="none" strike="noStrike">
                <a:solidFill>
                  <a:srgbClr val="8AE234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"scripts": {</a:t>
            </a:r>
            <a:endParaRPr b="0" i="0" sz="9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E234"/>
              </a:buClr>
              <a:buSzPts val="950"/>
              <a:buFont typeface="Nanum Gothic Coding"/>
              <a:buNone/>
            </a:pPr>
            <a:r>
              <a:rPr b="0" i="0" lang="en-US" sz="950" u="none" cap="none" strike="noStrike">
                <a:solidFill>
                  <a:srgbClr val="8AE234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"dev": "vite",</a:t>
            </a:r>
            <a:endParaRPr b="0" i="0" sz="9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E234"/>
              </a:buClr>
              <a:buSzPts val="950"/>
              <a:buFont typeface="Nanum Gothic Coding"/>
              <a:buNone/>
            </a:pPr>
            <a:r>
              <a:rPr b="0" i="0" lang="en-US" sz="950" u="none" cap="none" strike="noStrike">
                <a:solidFill>
                  <a:srgbClr val="8AE234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"build": "vite build",</a:t>
            </a:r>
            <a:endParaRPr b="0" i="0" sz="9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E234"/>
              </a:buClr>
              <a:buSzPts val="950"/>
              <a:buFont typeface="Nanum Gothic Coding"/>
              <a:buNone/>
            </a:pPr>
            <a:r>
              <a:rPr b="0" i="0" lang="en-US" sz="950" u="none" cap="none" strike="noStrike">
                <a:solidFill>
                  <a:srgbClr val="8AE234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"lint": "eslint ."</a:t>
            </a:r>
            <a:endParaRPr b="0" i="0" sz="9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E234"/>
              </a:buClr>
              <a:buSzPts val="950"/>
              <a:buFont typeface="Nanum Gothic Coding"/>
              <a:buNone/>
            </a:pPr>
            <a:r>
              <a:rPr b="0" i="0" lang="en-US" sz="950" u="none" cap="none" strike="noStrike">
                <a:solidFill>
                  <a:srgbClr val="8AE234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}</a:t>
            </a:r>
            <a:endParaRPr b="0" i="0" sz="9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Nanum Gothic Coding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E234"/>
              </a:buClr>
              <a:buSzPts val="950"/>
              <a:buFont typeface="Nanum Gothic Coding"/>
              <a:buNone/>
            </a:pPr>
            <a:r>
              <a:rPr b="0" i="0" lang="en-US" sz="950" u="none" cap="none" strike="noStrike">
                <a:solidFill>
                  <a:srgbClr val="8AE234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react: 19.x</a:t>
            </a:r>
            <a:endParaRPr b="0" i="0" sz="9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E234"/>
              </a:buClr>
              <a:buSzPts val="950"/>
              <a:buFont typeface="Nanum Gothic Coding"/>
              <a:buNone/>
            </a:pPr>
            <a:r>
              <a:rPr b="0" i="0" lang="en-US" sz="950" u="none" cap="none" strike="noStrike">
                <a:solidFill>
                  <a:srgbClr val="8AE234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react-router: 8.x</a:t>
            </a:r>
            <a:endParaRPr b="0" i="0" sz="9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E234"/>
              </a:buClr>
              <a:buSzPts val="950"/>
              <a:buFont typeface="Nanum Gothic Coding"/>
              <a:buNone/>
            </a:pPr>
            <a:r>
              <a:rPr b="0" i="0" lang="en-US" sz="950" u="none" cap="none" strike="noStrike">
                <a:solidFill>
                  <a:srgbClr val="8AE234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typeit: 8.x</a:t>
            </a:r>
            <a:endParaRPr b="0" i="0" sz="9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E234"/>
              </a:buClr>
              <a:buSzPts val="950"/>
              <a:buFont typeface="Nanum Gothic Coding"/>
              <a:buNone/>
            </a:pPr>
            <a:r>
              <a:rPr b="0" i="0" lang="en-US" sz="950" u="none" cap="none" strike="noStrike">
                <a:solidFill>
                  <a:srgbClr val="8AE234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vite: 8.x</a:t>
            </a:r>
            <a:endParaRPr b="0" i="0" sz="9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06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6"/>
          </a:solidFill>
          <a:ln cap="flat" cmpd="sng" w="12700">
            <a:solidFill>
              <a:srgbClr val="05080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201168" y="91440"/>
            <a:ext cx="1828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500"/>
              <a:buFont typeface="Nanum Gothic Coding"/>
              <a:buNone/>
            </a:pPr>
            <a:r>
              <a:rPr b="0" i="0" lang="en-US" sz="50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linux/presentation-template</a:t>
            </a:r>
            <a:endParaRPr b="0" i="0" sz="5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11594592" y="100584"/>
            <a:ext cx="41148" cy="41148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11695176" y="100584"/>
            <a:ext cx="41148" cy="41148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11795760" y="100584"/>
            <a:ext cx="41148" cy="41148"/>
          </a:xfrm>
          <a:prstGeom prst="ellipse">
            <a:avLst/>
          </a:prstGeom>
          <a:solidFill>
            <a:srgbClr val="00E676"/>
          </a:solidFill>
          <a:ln cap="flat" cmpd="sng" w="12700">
            <a:solidFill>
              <a:srgbClr val="00E67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502920" y="393192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900"/>
              <a:buFont typeface="Nanum Gothic Coding"/>
              <a:buNone/>
            </a:pPr>
            <a:r>
              <a:rPr b="1" i="0" lang="en-US" sz="900" u="none" cap="none" strike="noStrike">
                <a:solidFill>
                  <a:srgbClr val="00E67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$ systemctl status myHome.service</a:t>
            </a:r>
            <a:endParaRPr b="0" i="0" sz="9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201168" y="6629400"/>
            <a:ext cx="18288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450"/>
              <a:buFont typeface="Nanum Gothic Coding"/>
              <a:buNone/>
            </a:pPr>
            <a:r>
              <a:rPr b="0" i="0" lang="en-US" sz="4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user@linux:~/react-study-project</a:t>
            </a:r>
            <a:endParaRPr b="0" i="0" sz="4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9555480" y="6620256"/>
            <a:ext cx="23774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450"/>
              <a:buFont typeface="Nanum Gothic Coding"/>
              <a:buNone/>
            </a:pPr>
            <a:r>
              <a:rPr b="0" i="0" lang="en-US" sz="4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04  |  npm run dev  |  react + vite</a:t>
            </a:r>
            <a:endParaRPr b="0" i="0" sz="4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640080" y="1143000"/>
            <a:ext cx="6126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3000"/>
              <a:buFont typeface="Nanum Gothic Coding"/>
              <a:buNone/>
            </a:pPr>
            <a:r>
              <a:rPr b="1" i="0" lang="en-US" sz="30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&lt;ARCHITECTURE&gt;</a:t>
            </a:r>
            <a:endParaRPr b="0" i="0" sz="30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40080" y="1645920"/>
            <a:ext cx="6126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1250"/>
              <a:buFont typeface="Nanum Gothic Coding"/>
              <a:buNone/>
            </a:pPr>
            <a:r>
              <a:rPr b="0" i="0" lang="en-US" sz="125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항상 살아있는 Terminal + 라우팅으로 열린 Page Overlay</a:t>
            </a:r>
            <a:endParaRPr b="0" i="0" sz="12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2272284" y="2670048"/>
            <a:ext cx="20116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5F2A"/>
              </a:buClr>
              <a:buSzPts val="1400"/>
              <a:buFont typeface="Nanum Gothic Coding"/>
              <a:buNone/>
            </a:pPr>
            <a:r>
              <a:rPr b="1" i="0" lang="en-US" sz="1400" u="none" cap="none" strike="noStrike">
                <a:solidFill>
                  <a:srgbClr val="0B5F2A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731525" y="2240274"/>
            <a:ext cx="1234500" cy="1316100"/>
          </a:xfrm>
          <a:prstGeom prst="roundRect">
            <a:avLst>
              <a:gd fmla="val 5217" name="adj"/>
            </a:avLst>
          </a:prstGeom>
          <a:solidFill>
            <a:srgbClr val="0B1411"/>
          </a:solidFill>
          <a:ln cap="flat" cmpd="sng" w="15225">
            <a:solidFill>
              <a:srgbClr val="00E6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868680" y="2386584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200"/>
              <a:buFont typeface="Nanum Gothic Coding"/>
              <a:buNone/>
            </a:pPr>
            <a:r>
              <a:rPr b="1" i="0" lang="en-US" sz="12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BootSequence</a:t>
            </a:r>
            <a:endParaRPr b="0" i="0" sz="12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868680" y="2679192"/>
            <a:ext cx="96012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830"/>
              <a:buFont typeface="Nanum Gothic Coding"/>
              <a:buNone/>
            </a:pPr>
            <a:r>
              <a:rPr b="0" i="0" lang="en-US" sz="83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초기 로그 / loading</a:t>
            </a:r>
            <a:endParaRPr b="0" i="0" sz="83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2788930" y="2240275"/>
            <a:ext cx="3860400" cy="1316100"/>
          </a:xfrm>
          <a:prstGeom prst="roundRect">
            <a:avLst>
              <a:gd fmla="val 5217" name="adj"/>
            </a:avLst>
          </a:prstGeom>
          <a:solidFill>
            <a:srgbClr val="0B1411"/>
          </a:solidFill>
          <a:ln cap="flat" cmpd="sng" w="15225">
            <a:solidFill>
              <a:srgbClr val="F2C9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2926080" y="2386584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200"/>
              <a:buFont typeface="Nanum Gothic Coding"/>
              <a:buNone/>
            </a:pPr>
            <a:r>
              <a:rPr b="1" i="0" lang="en-US" sz="12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TerminalLayout</a:t>
            </a:r>
            <a:endParaRPr b="0" i="0" sz="12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2926080" y="2679192"/>
            <a:ext cx="128016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830"/>
              <a:buFont typeface="Nanum Gothic Coding"/>
              <a:buNone/>
            </a:pPr>
            <a:r>
              <a:rPr b="0" i="0" lang="en-US" sz="83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Terminal</a:t>
            </a:r>
            <a:r>
              <a:rPr lang="en-US" sz="830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를 배경으로 사용</a:t>
            </a:r>
            <a:endParaRPr b="0" i="0" sz="83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830"/>
              <a:buFont typeface="Nanum Gothic Coding"/>
              <a:buNone/>
            </a:pPr>
            <a:r>
              <a:rPr b="0" i="0" lang="en-US" sz="83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Outlet overlay</a:t>
            </a:r>
            <a:endParaRPr b="0" i="0" sz="83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873650" y="2375575"/>
            <a:ext cx="1536300" cy="1045500"/>
          </a:xfrm>
          <a:prstGeom prst="roundRect">
            <a:avLst>
              <a:gd fmla="val 5217" name="adj"/>
            </a:avLst>
          </a:prstGeom>
          <a:solidFill>
            <a:srgbClr val="0B1411"/>
          </a:solidFill>
          <a:ln cap="flat" cmpd="sng" w="152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5148072" y="2386584"/>
            <a:ext cx="1261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200"/>
              <a:buFont typeface="Nanum Gothic Coding"/>
              <a:buNone/>
            </a:pPr>
            <a:r>
              <a:rPr b="1" i="0" lang="en-US" sz="12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Terminal</a:t>
            </a:r>
            <a:endParaRPr b="0" i="0" sz="12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5148072" y="2679192"/>
            <a:ext cx="1261872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830"/>
              <a:buFont typeface="Nanum Gothic Coding"/>
              <a:buNone/>
            </a:pPr>
            <a:r>
              <a:rPr b="0" i="0" lang="en-US" sz="83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prompt / input</a:t>
            </a:r>
            <a:endParaRPr b="0" i="0" sz="830" u="none" cap="none" strike="noStrike">
              <a:solidFill>
                <a:srgbClr val="A8B0A8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830"/>
              <a:buFont typeface="Nanum Gothic Coding"/>
              <a:buNone/>
            </a:pPr>
            <a:r>
              <a:rPr lang="en-US" sz="830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command output</a:t>
            </a:r>
            <a:endParaRPr sz="830">
              <a:solidFill>
                <a:srgbClr val="A8B0A8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830"/>
              <a:buFont typeface="Nanum Gothic Coding"/>
              <a:buNone/>
            </a:pPr>
            <a:r>
              <a:rPr lang="en-US" sz="830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다른 페이지로 Route</a:t>
            </a:r>
            <a:endParaRPr b="0" i="0" sz="83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7360920" y="1965960"/>
            <a:ext cx="2057400" cy="1005840"/>
          </a:xfrm>
          <a:prstGeom prst="roundRect">
            <a:avLst>
              <a:gd fmla="val 5455" name="adj"/>
            </a:avLst>
          </a:prstGeom>
          <a:solidFill>
            <a:srgbClr val="0B1411"/>
          </a:solidFill>
          <a:ln cap="flat" cmpd="sng" w="15225">
            <a:solidFill>
              <a:srgbClr val="C084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7498080" y="2112264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200"/>
              <a:buFont typeface="Nanum Gothic Coding"/>
              <a:buNone/>
            </a:pPr>
            <a:r>
              <a:rPr b="1" i="0" lang="en-US" sz="12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Login/Register</a:t>
            </a:r>
            <a:endParaRPr b="0" i="0" sz="12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7498080" y="2404872"/>
            <a:ext cx="1783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830"/>
              <a:buFont typeface="Nanum Gothic Coding"/>
              <a:buNone/>
            </a:pPr>
            <a:r>
              <a:rPr b="0" i="0" lang="en-US" sz="83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인증 UI</a:t>
            </a:r>
            <a:endParaRPr b="0" i="0" sz="83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830"/>
              <a:buFont typeface="Nanum Gothic Coding"/>
              <a:buNone/>
            </a:pPr>
            <a:r>
              <a:rPr b="0" i="0" lang="en-US" sz="83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state 전달</a:t>
            </a:r>
            <a:endParaRPr b="0" i="0" sz="83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7360920" y="3657600"/>
            <a:ext cx="2057400" cy="1005840"/>
          </a:xfrm>
          <a:prstGeom prst="roundRect">
            <a:avLst>
              <a:gd fmla="val 5455" name="adj"/>
            </a:avLst>
          </a:prstGeom>
          <a:solidFill>
            <a:srgbClr val="0B1411"/>
          </a:solidFill>
          <a:ln cap="flat" cmpd="sng" w="15225">
            <a:solidFill>
              <a:srgbClr val="00E6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498080" y="3803904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200"/>
              <a:buFont typeface="Nanum Gothic Coding"/>
              <a:buNone/>
            </a:pPr>
            <a:r>
              <a:rPr b="1" i="0" lang="en-US" sz="12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Hobby/Whoami</a:t>
            </a:r>
            <a:endParaRPr b="0" i="0" sz="12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7498080" y="4096512"/>
            <a:ext cx="1783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830"/>
              <a:buFont typeface="Nanum Gothic Coding"/>
              <a:buNone/>
            </a:pPr>
            <a:r>
              <a:rPr b="0" i="0" lang="en-US" sz="83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콘텐츠 페이지</a:t>
            </a:r>
            <a:endParaRPr b="0" i="0" sz="83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830"/>
              <a:buFont typeface="Nanum Gothic Coding"/>
              <a:buNone/>
            </a:pPr>
            <a:r>
              <a:rPr b="0" i="0" lang="en-US" sz="83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모달형 화면</a:t>
            </a:r>
            <a:endParaRPr b="0" i="0" sz="83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9829800" y="2148840"/>
            <a:ext cx="1691640" cy="2926080"/>
          </a:xfrm>
          <a:prstGeom prst="roundRect">
            <a:avLst>
              <a:gd fmla="val 1622" name="adj"/>
            </a:avLst>
          </a:prstGeom>
          <a:solidFill>
            <a:srgbClr val="10151B"/>
          </a:solidFill>
          <a:ln cap="flat" cmpd="sng" w="12700">
            <a:solidFill>
              <a:srgbClr val="1B6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9848088" y="2167128"/>
            <a:ext cx="1655064" cy="301752"/>
          </a:xfrm>
          <a:prstGeom prst="rect">
            <a:avLst/>
          </a:prstGeom>
          <a:solidFill>
            <a:srgbClr val="121D18"/>
          </a:solidFill>
          <a:ln cap="flat" cmpd="sng" w="12700">
            <a:solidFill>
              <a:srgbClr val="121D1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9976104" y="2267712"/>
            <a:ext cx="50292" cy="50292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10094976" y="2267712"/>
            <a:ext cx="50292" cy="50292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10213848" y="2267712"/>
            <a:ext cx="50292" cy="50292"/>
          </a:xfrm>
          <a:prstGeom prst="ellipse">
            <a:avLst/>
          </a:prstGeom>
          <a:solidFill>
            <a:srgbClr val="00E676"/>
          </a:solidFill>
          <a:ln cap="flat" cmpd="sng" w="12700">
            <a:solidFill>
              <a:srgbClr val="00E67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10415016" y="2240280"/>
            <a:ext cx="96012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550"/>
              <a:buFont typeface="Nanum Gothic Coding"/>
              <a:buNone/>
            </a:pPr>
            <a:r>
              <a:rPr b="0" i="0" lang="en-US" sz="5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route map</a:t>
            </a:r>
            <a:endParaRPr b="0" i="0" sz="5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10085832" y="2651760"/>
            <a:ext cx="1252728" cy="2267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200"/>
              <a:buFont typeface="Nanum Gothic Coding"/>
              <a:buNone/>
            </a:pPr>
            <a:r>
              <a:rPr b="0" i="0" lang="en-US" sz="12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/</a:t>
            </a:r>
            <a:endParaRPr b="0" i="0" sz="12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200"/>
              <a:buFont typeface="Nanum Gothic Coding"/>
              <a:buNone/>
            </a:pPr>
            <a:r>
              <a:rPr b="0" i="0" lang="en-US" sz="12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├─ login</a:t>
            </a:r>
            <a:endParaRPr b="0" i="0" sz="12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200"/>
              <a:buFont typeface="Nanum Gothic Coding"/>
              <a:buNone/>
            </a:pPr>
            <a:r>
              <a:rPr b="0" i="0" lang="en-US" sz="12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├─ register</a:t>
            </a:r>
            <a:endParaRPr b="0" i="0" sz="12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200"/>
              <a:buFont typeface="Nanum Gothic Coding"/>
              <a:buNone/>
            </a:pPr>
            <a:r>
              <a:rPr b="0" i="0" lang="en-US" sz="12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├─ hobby</a:t>
            </a:r>
            <a:endParaRPr b="0" i="0" sz="12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200"/>
              <a:buFont typeface="Nanum Gothic Coding"/>
              <a:buNone/>
            </a:pPr>
            <a:r>
              <a:rPr b="0" i="0" lang="en-US" sz="12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└─ whoami</a:t>
            </a:r>
            <a:endParaRPr b="0" i="0" sz="12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cxnSp>
        <p:nvCxnSpPr>
          <p:cNvPr id="133" name="Google Shape;133;p4"/>
          <p:cNvCxnSpPr>
            <a:stCxn id="119" idx="3"/>
            <a:endCxn id="123" idx="1"/>
          </p:cNvCxnSpPr>
          <p:nvPr/>
        </p:nvCxnSpPr>
        <p:spPr>
          <a:xfrm>
            <a:off x="6409944" y="2939796"/>
            <a:ext cx="951000" cy="1220700"/>
          </a:xfrm>
          <a:prstGeom prst="bentConnector3">
            <a:avLst>
              <a:gd fmla="val 49999" name="adj1"/>
            </a:avLst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4" name="Google Shape;134;p4"/>
          <p:cNvCxnSpPr>
            <a:endCxn id="120" idx="1"/>
          </p:cNvCxnSpPr>
          <p:nvPr/>
        </p:nvCxnSpPr>
        <p:spPr>
          <a:xfrm flipH="1" rot="10800000">
            <a:off x="6418020" y="2468880"/>
            <a:ext cx="942900" cy="372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FF00FF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06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50806"/>
          </a:solidFill>
          <a:ln cap="flat" cmpd="sng" w="12700">
            <a:solidFill>
              <a:srgbClr val="05080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201168" y="91440"/>
            <a:ext cx="1828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500"/>
              <a:buFont typeface="Nanum Gothic Coding"/>
              <a:buNone/>
            </a:pPr>
            <a:r>
              <a:rPr b="0" i="0" lang="en-US" sz="50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linux/presentation-template</a:t>
            </a:r>
            <a:endParaRPr b="0" i="0" sz="5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11594592" y="100584"/>
            <a:ext cx="41148" cy="41148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11695176" y="100584"/>
            <a:ext cx="41148" cy="41148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11795760" y="100584"/>
            <a:ext cx="41148" cy="41148"/>
          </a:xfrm>
          <a:prstGeom prst="ellipse">
            <a:avLst/>
          </a:prstGeom>
          <a:solidFill>
            <a:srgbClr val="00E676"/>
          </a:solidFill>
          <a:ln cap="flat" cmpd="sng" w="12700">
            <a:solidFill>
              <a:srgbClr val="00E67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502920" y="393192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900"/>
              <a:buFont typeface="Nanum Gothic Coding"/>
              <a:buNone/>
            </a:pPr>
            <a:r>
              <a:rPr b="1" i="0" lang="en-US" sz="900" u="none" cap="none" strike="noStrike">
                <a:solidFill>
                  <a:srgbClr val="00E67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$ ./run-flow --boot --login --shell</a:t>
            </a:r>
            <a:endParaRPr b="0" i="0" sz="9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201168" y="6629400"/>
            <a:ext cx="18288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450"/>
              <a:buFont typeface="Nanum Gothic Coding"/>
              <a:buNone/>
            </a:pPr>
            <a:r>
              <a:rPr b="0" i="0" lang="en-US" sz="4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user@linux:~/react-study-project</a:t>
            </a:r>
            <a:endParaRPr b="0" i="0" sz="4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9555480" y="6620256"/>
            <a:ext cx="23774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450"/>
              <a:buFont typeface="Nanum Gothic Coding"/>
              <a:buNone/>
            </a:pPr>
            <a:r>
              <a:rPr b="0" i="0" lang="en-US" sz="4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05  |  npm run dev  |  react + vite</a:t>
            </a:r>
            <a:endParaRPr b="0" i="0" sz="4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640080" y="1143000"/>
            <a:ext cx="6126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3000"/>
              <a:buFont typeface="Nanum Gothic Coding"/>
              <a:buNone/>
            </a:pPr>
            <a:r>
              <a:rPr b="1" i="0" lang="en-US" sz="30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&lt;SCREEN_FLOW&gt;</a:t>
            </a:r>
            <a:endParaRPr b="0" i="0" sz="30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640080" y="1645920"/>
            <a:ext cx="6126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1250"/>
              <a:buFont typeface="Nanum Gothic Coding"/>
              <a:buNone/>
            </a:pPr>
            <a:r>
              <a:rPr b="1" i="0" lang="en-US" sz="1250" u="none" cap="none" strike="noStrike">
                <a:solidFill>
                  <a:srgbClr val="D9D9D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화면 전환은 페이지 이동이지만, 사용자는 터미널 위에 팝업된 것처럼 인식</a:t>
            </a:r>
            <a:endParaRPr b="1" i="0" sz="1250" u="none" cap="none" strike="noStrike">
              <a:solidFill>
                <a:srgbClr val="D9D9D9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685800" y="2487168"/>
            <a:ext cx="1371600" cy="1060704"/>
          </a:xfrm>
          <a:prstGeom prst="roundRect">
            <a:avLst>
              <a:gd fmla="val 5172" name="adj"/>
            </a:avLst>
          </a:prstGeom>
          <a:solidFill>
            <a:srgbClr val="0B1411"/>
          </a:solidFill>
          <a:ln cap="flat" cmpd="sng" w="15225">
            <a:solidFill>
              <a:srgbClr val="00E6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822960" y="26334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200"/>
              <a:buFont typeface="Nanum Gothic Coding"/>
              <a:buNone/>
            </a:pPr>
            <a:r>
              <a:rPr b="1" i="0" lang="en-US" sz="12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Boot</a:t>
            </a:r>
            <a:endParaRPr b="0" i="0" sz="12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822960" y="2926080"/>
            <a:ext cx="1097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830"/>
              <a:buFont typeface="Nanum Gothic Coding"/>
              <a:buNone/>
            </a:pPr>
            <a:r>
              <a:rPr b="0" i="0" lang="en-US" sz="83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isBootComplete</a:t>
            </a:r>
            <a:endParaRPr b="0" i="0" sz="83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830"/>
              <a:buFont typeface="Nanum Gothic Coding"/>
              <a:buNone/>
            </a:pPr>
            <a:r>
              <a:rPr b="0" i="0" lang="en-US" sz="83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false → true</a:t>
            </a:r>
            <a:endParaRPr b="0" i="0" sz="83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2743200" y="2487168"/>
            <a:ext cx="1371600" cy="1060704"/>
          </a:xfrm>
          <a:prstGeom prst="roundRect">
            <a:avLst>
              <a:gd fmla="val 5172" name="adj"/>
            </a:avLst>
          </a:prstGeom>
          <a:solidFill>
            <a:srgbClr val="0B1411"/>
          </a:solidFill>
          <a:ln cap="flat" cmpd="sng" w="15225">
            <a:solidFill>
              <a:srgbClr val="F2C9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2880360" y="26334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200"/>
              <a:buFont typeface="Nanum Gothic Coding"/>
              <a:buNone/>
            </a:pPr>
            <a:r>
              <a:rPr b="1" i="0" lang="en-US" sz="12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Login</a:t>
            </a:r>
            <a:endParaRPr b="0" i="0" sz="12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2880360" y="2926080"/>
            <a:ext cx="1097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830"/>
              <a:buFont typeface="Nanum Gothic Coding"/>
              <a:buNone/>
            </a:pPr>
            <a:r>
              <a:rPr b="0" i="0" lang="en-US" sz="83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setUser(loginId)</a:t>
            </a:r>
            <a:endParaRPr b="0" i="0" sz="83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830"/>
              <a:buFont typeface="Nanum Gothic Coding"/>
              <a:buNone/>
            </a:pPr>
            <a:r>
              <a:rPr b="0" i="0" lang="en-US" sz="83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navigate("/")</a:t>
            </a:r>
            <a:endParaRPr b="0" i="0" sz="83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4800600" y="2487168"/>
            <a:ext cx="1371600" cy="1060704"/>
          </a:xfrm>
          <a:prstGeom prst="roundRect">
            <a:avLst>
              <a:gd fmla="val 5172" name="adj"/>
            </a:avLst>
          </a:prstGeom>
          <a:solidFill>
            <a:srgbClr val="0B1411"/>
          </a:solidFill>
          <a:ln cap="flat" cmpd="sng" w="15225">
            <a:solidFill>
              <a:srgbClr val="00E6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4937760" y="26334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200"/>
              <a:buFont typeface="Nanum Gothic Coding"/>
              <a:buNone/>
            </a:pPr>
            <a:r>
              <a:rPr b="1" i="0" lang="en-US" sz="12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Shell</a:t>
            </a:r>
            <a:endParaRPr b="0" i="0" sz="12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937760" y="2926080"/>
            <a:ext cx="1097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830"/>
              <a:buFont typeface="Nanum Gothic Coding"/>
              <a:buNone/>
            </a:pPr>
            <a:r>
              <a:rPr b="0" i="0" lang="en-US" sz="83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Terminal 유지</a:t>
            </a:r>
            <a:endParaRPr b="0" i="0" sz="83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830"/>
              <a:buFont typeface="Nanum Gothic Coding"/>
              <a:buNone/>
            </a:pPr>
            <a:r>
              <a:rPr b="0" i="0" lang="en-US" sz="83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입력 대기</a:t>
            </a:r>
            <a:endParaRPr b="0" i="0" sz="83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6858000" y="2487168"/>
            <a:ext cx="1371600" cy="1060704"/>
          </a:xfrm>
          <a:prstGeom prst="roundRect">
            <a:avLst>
              <a:gd fmla="val 5172" name="adj"/>
            </a:avLst>
          </a:prstGeom>
          <a:solidFill>
            <a:srgbClr val="0B1411"/>
          </a:solidFill>
          <a:ln cap="flat" cmpd="sng" w="15225">
            <a:solidFill>
              <a:srgbClr val="F2C9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6995160" y="26334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200"/>
              <a:buFont typeface="Nanum Gothic Coding"/>
              <a:buNone/>
            </a:pPr>
            <a:r>
              <a:rPr b="1" i="0" lang="en-US" sz="12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Command</a:t>
            </a:r>
            <a:endParaRPr b="0" i="0" sz="12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6995160" y="2926080"/>
            <a:ext cx="1097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830"/>
              <a:buFont typeface="Nanum Gothic Coding"/>
              <a:buNone/>
            </a:pPr>
            <a:r>
              <a:rPr b="0" i="0" lang="en-US" sz="83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executeCommand</a:t>
            </a:r>
            <a:endParaRPr b="0" i="0" sz="83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830"/>
              <a:buFont typeface="Nanum Gothic Coding"/>
              <a:buNone/>
            </a:pPr>
            <a:r>
              <a:rPr b="0" i="0" lang="en-US" sz="83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route flag</a:t>
            </a:r>
            <a:endParaRPr b="0" i="0" sz="83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8915400" y="2487168"/>
            <a:ext cx="1371600" cy="1060704"/>
          </a:xfrm>
          <a:prstGeom prst="roundRect">
            <a:avLst>
              <a:gd fmla="val 5172" name="adj"/>
            </a:avLst>
          </a:prstGeom>
          <a:solidFill>
            <a:srgbClr val="0B1411"/>
          </a:solidFill>
          <a:ln cap="flat" cmpd="sng" w="15225">
            <a:solidFill>
              <a:srgbClr val="00E6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9052560" y="26334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200"/>
              <a:buFont typeface="Nanum Gothic Coding"/>
              <a:buNone/>
            </a:pPr>
            <a:r>
              <a:rPr b="1" i="0" lang="en-US" sz="12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Overlay</a:t>
            </a:r>
            <a:endParaRPr b="0" i="0" sz="12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9052560" y="2926080"/>
            <a:ext cx="1097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830"/>
              <a:buFont typeface="Nanum Gothic Coding"/>
              <a:buNone/>
            </a:pPr>
            <a:r>
              <a:rPr b="0" i="0" lang="en-US" sz="83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hobby / whoami</a:t>
            </a:r>
            <a:endParaRPr b="0" i="0" sz="83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830"/>
              <a:buFont typeface="Nanum Gothic Coding"/>
              <a:buNone/>
            </a:pPr>
            <a:r>
              <a:rPr b="0" i="0" lang="en-US" sz="83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page open</a:t>
            </a:r>
            <a:endParaRPr b="0" i="0" sz="83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777240" y="4892040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1200"/>
              <a:buFont typeface="Nanum Gothic Coding"/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핵심: TerminalLayout이 공통 배경 역할을 하고, 자식 라우트가 열리면 Outlet을 overlay로 렌더링</a:t>
            </a:r>
            <a:endParaRPr b="0" i="0" sz="1200" u="none" cap="none" strike="noStrike">
              <a:solidFill>
                <a:srgbClr val="EFEFE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9418320" y="4279392"/>
            <a:ext cx="1828800" cy="1051560"/>
          </a:xfrm>
          <a:prstGeom prst="roundRect">
            <a:avLst>
              <a:gd fmla="val 2609" name="adj"/>
            </a:avLst>
          </a:prstGeom>
          <a:solidFill>
            <a:srgbClr val="10151B"/>
          </a:solidFill>
          <a:ln cap="flat" cmpd="sng" w="12700">
            <a:solidFill>
              <a:srgbClr val="1B6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9436608" y="4297680"/>
            <a:ext cx="1792224" cy="301752"/>
          </a:xfrm>
          <a:prstGeom prst="rect">
            <a:avLst/>
          </a:prstGeom>
          <a:solidFill>
            <a:srgbClr val="121D18"/>
          </a:solidFill>
          <a:ln cap="flat" cmpd="sng" w="12700">
            <a:solidFill>
              <a:srgbClr val="121D1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9564624" y="4398264"/>
            <a:ext cx="50292" cy="50292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9683496" y="4398264"/>
            <a:ext cx="50292" cy="50292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9802368" y="4398264"/>
            <a:ext cx="50292" cy="50292"/>
          </a:xfrm>
          <a:prstGeom prst="ellipse">
            <a:avLst/>
          </a:prstGeom>
          <a:solidFill>
            <a:srgbClr val="00E676"/>
          </a:solidFill>
          <a:ln cap="flat" cmpd="sng" w="12700">
            <a:solidFill>
              <a:srgbClr val="00E67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10003536" y="4370832"/>
            <a:ext cx="109728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550"/>
              <a:buFont typeface="Nanum Gothic Coding"/>
              <a:buNone/>
            </a:pPr>
            <a:r>
              <a:rPr b="0" i="0" lang="en-US" sz="5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state</a:t>
            </a:r>
            <a:endParaRPr b="0" i="0" sz="5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9674352" y="4782312"/>
            <a:ext cx="1389888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850"/>
              <a:buFont typeface="Nanum Gothic Coding"/>
              <a:buNone/>
            </a:pPr>
            <a:r>
              <a:rPr b="0" i="0" lang="en-US" sz="85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user = { loginId }</a:t>
            </a:r>
            <a:endParaRPr b="0" i="0" sz="8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850"/>
              <a:buFont typeface="Nanum Gothic Coding"/>
              <a:buNone/>
            </a:pPr>
            <a:r>
              <a:rPr b="0" i="0" lang="en-US" sz="85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isPageOpen = path != /</a:t>
            </a:r>
            <a:endParaRPr b="0" i="0" sz="8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cxnSp>
        <p:nvCxnSpPr>
          <p:cNvPr id="173" name="Google Shape;173;p5"/>
          <p:cNvCxnSpPr>
            <a:stCxn id="150" idx="3"/>
            <a:endCxn id="153" idx="1"/>
          </p:cNvCxnSpPr>
          <p:nvPr/>
        </p:nvCxnSpPr>
        <p:spPr>
          <a:xfrm>
            <a:off x="2057400" y="3017520"/>
            <a:ext cx="685800" cy="0"/>
          </a:xfrm>
          <a:prstGeom prst="straightConnector1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5"/>
          <p:cNvCxnSpPr>
            <a:stCxn id="156" idx="3"/>
            <a:endCxn id="159" idx="1"/>
          </p:cNvCxnSpPr>
          <p:nvPr/>
        </p:nvCxnSpPr>
        <p:spPr>
          <a:xfrm>
            <a:off x="6172200" y="3017520"/>
            <a:ext cx="685800" cy="0"/>
          </a:xfrm>
          <a:prstGeom prst="straightConnector1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" name="Google Shape;175;p5"/>
          <p:cNvCxnSpPr>
            <a:stCxn id="153" idx="3"/>
            <a:endCxn id="156" idx="1"/>
          </p:cNvCxnSpPr>
          <p:nvPr/>
        </p:nvCxnSpPr>
        <p:spPr>
          <a:xfrm>
            <a:off x="4114800" y="3017520"/>
            <a:ext cx="685800" cy="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" name="Google Shape;176;p5"/>
          <p:cNvCxnSpPr>
            <a:stCxn id="159" idx="3"/>
            <a:endCxn id="162" idx="1"/>
          </p:cNvCxnSpPr>
          <p:nvPr/>
        </p:nvCxnSpPr>
        <p:spPr>
          <a:xfrm>
            <a:off x="8229600" y="3017520"/>
            <a:ext cx="685800" cy="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06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6"/>
          </a:solidFill>
          <a:ln cap="flat" cmpd="sng" w="12700">
            <a:solidFill>
              <a:srgbClr val="05080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201168" y="91440"/>
            <a:ext cx="1828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500"/>
              <a:buFont typeface="Nanum Gothic Coding"/>
              <a:buNone/>
            </a:pPr>
            <a:r>
              <a:rPr b="0" i="0" lang="en-US" sz="50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linux/presentation-template</a:t>
            </a:r>
            <a:endParaRPr b="0" i="0" sz="5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11594592" y="100584"/>
            <a:ext cx="41148" cy="41148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11695176" y="100584"/>
            <a:ext cx="41148" cy="41148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11795760" y="100584"/>
            <a:ext cx="41148" cy="41148"/>
          </a:xfrm>
          <a:prstGeom prst="ellipse">
            <a:avLst/>
          </a:prstGeom>
          <a:solidFill>
            <a:srgbClr val="00E676"/>
          </a:solidFill>
          <a:ln cap="flat" cmpd="sng" w="12700">
            <a:solidFill>
              <a:srgbClr val="00E67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502920" y="393192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900"/>
              <a:buFont typeface="Nanum Gothic Coding"/>
              <a:buNone/>
            </a:pPr>
            <a:r>
              <a:rPr b="1" i="0" lang="en-US" sz="900" u="none" cap="none" strike="noStrike">
                <a:solidFill>
                  <a:srgbClr val="00E67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$ vim src/commands/commands.js</a:t>
            </a:r>
            <a:endParaRPr b="0" i="0" sz="9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201168" y="6629400"/>
            <a:ext cx="18288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450"/>
              <a:buFont typeface="Nanum Gothic Coding"/>
              <a:buNone/>
            </a:pPr>
            <a:r>
              <a:rPr b="0" i="0" lang="en-US" sz="4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user@linux:~/react-study-project</a:t>
            </a:r>
            <a:endParaRPr b="0" i="0" sz="4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9555480" y="6620256"/>
            <a:ext cx="23774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450"/>
              <a:buFont typeface="Nanum Gothic Coding"/>
              <a:buNone/>
            </a:pPr>
            <a:r>
              <a:rPr b="0" i="0" lang="en-US" sz="4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06  |  npm run dev  |  react + vite</a:t>
            </a:r>
            <a:endParaRPr b="0" i="0" sz="4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640080" y="1143000"/>
            <a:ext cx="6126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3000"/>
              <a:buFont typeface="Nanum Gothic Coding"/>
              <a:buNone/>
            </a:pPr>
            <a:r>
              <a:rPr b="1" i="0" lang="en-US" sz="30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&lt;COMMAND_PARSER&gt;</a:t>
            </a:r>
            <a:endParaRPr b="0" i="0" sz="30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640080" y="1645920"/>
            <a:ext cx="6126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1250"/>
              <a:buFont typeface="Nanum Gothic Coding"/>
              <a:buNone/>
            </a:pPr>
            <a:r>
              <a:rPr b="0" i="0" lang="en-US" sz="125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명령어 입력 → commandHandlers 매핑 → 결과/라우팅 플래그 반환</a:t>
            </a:r>
            <a:endParaRPr b="0" i="0" sz="12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594360" y="2148840"/>
            <a:ext cx="4617720" cy="3246120"/>
          </a:xfrm>
          <a:prstGeom prst="roundRect">
            <a:avLst>
              <a:gd fmla="val 845" name="adj"/>
            </a:avLst>
          </a:prstGeom>
          <a:solidFill>
            <a:srgbClr val="10151B"/>
          </a:solidFill>
          <a:ln cap="flat" cmpd="sng" w="12700">
            <a:solidFill>
              <a:srgbClr val="1B6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612648" y="2167128"/>
            <a:ext cx="4581144" cy="301752"/>
          </a:xfrm>
          <a:prstGeom prst="rect">
            <a:avLst/>
          </a:prstGeom>
          <a:solidFill>
            <a:srgbClr val="121D18"/>
          </a:solidFill>
          <a:ln cap="flat" cmpd="sng" w="12700">
            <a:solidFill>
              <a:srgbClr val="121D1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740664" y="2267712"/>
            <a:ext cx="50292" cy="50292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859536" y="2267712"/>
            <a:ext cx="50292" cy="50292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978408" y="2267712"/>
            <a:ext cx="50292" cy="50292"/>
          </a:xfrm>
          <a:prstGeom prst="ellipse">
            <a:avLst/>
          </a:prstGeom>
          <a:solidFill>
            <a:srgbClr val="00E676"/>
          </a:solidFill>
          <a:ln cap="flat" cmpd="sng" w="12700">
            <a:solidFill>
              <a:srgbClr val="00E67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1179576" y="2240280"/>
            <a:ext cx="388620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550"/>
              <a:buFont typeface="Nanum Gothic Coding"/>
              <a:buNone/>
            </a:pPr>
            <a:r>
              <a:rPr b="0" i="0" lang="en-US" sz="5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commands.js</a:t>
            </a:r>
            <a:endParaRPr b="0" i="0" sz="5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850392" y="2651760"/>
            <a:ext cx="4178808" cy="2587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100"/>
              <a:buFont typeface="Nanum Gothic Coding"/>
              <a:buNone/>
            </a:pPr>
            <a:r>
              <a:rPr b="0" i="0" lang="en-US" sz="11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help    -&gt; Available commands</a:t>
            </a:r>
            <a:endParaRPr b="0" i="0" sz="11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100"/>
              <a:buFont typeface="Nanum Gothic Coding"/>
              <a:buNone/>
            </a:pPr>
            <a:r>
              <a:rPr b="0" i="0" lang="en-US" sz="11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echo    -&gt; args.join(" ")</a:t>
            </a:r>
            <a:endParaRPr b="0" i="0" sz="11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100"/>
              <a:buFont typeface="Nanum Gothic Coding"/>
              <a:buNone/>
            </a:pPr>
            <a:r>
              <a:rPr b="0" i="0" lang="en-US" sz="11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clear   -&gt; clear: true</a:t>
            </a:r>
            <a:endParaRPr b="0" i="0" sz="11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100"/>
              <a:buFont typeface="Nanum Gothic Coding"/>
              <a:buNone/>
            </a:pPr>
            <a:r>
              <a:rPr b="0" i="0" lang="en-US" sz="11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logout  -&gt; route: /login</a:t>
            </a:r>
            <a:endParaRPr b="0" i="0" sz="11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100"/>
              <a:buFont typeface="Nanum Gothic Coding"/>
              <a:buNone/>
            </a:pPr>
            <a:r>
              <a:rPr b="0" i="0" lang="en-US" sz="11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hobby   -&gt; route: /hobby</a:t>
            </a:r>
            <a:endParaRPr b="0" i="0" sz="11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100"/>
              <a:buFont typeface="Nanum Gothic Coding"/>
              <a:buNone/>
            </a:pPr>
            <a:r>
              <a:rPr b="0" i="0" lang="en-US" sz="11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whoami  -&gt; route: /whoami</a:t>
            </a:r>
            <a:endParaRPr b="0" i="0" sz="11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anum Gothic Coding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100"/>
              <a:buFont typeface="Nanum Gothic Coding"/>
              <a:buNone/>
            </a:pPr>
            <a:r>
              <a:rPr b="0" i="0" lang="en-US" sz="11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unknown -&gt; command not found</a:t>
            </a:r>
            <a:endParaRPr b="0" i="0" sz="11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5984748" y="3017520"/>
            <a:ext cx="20116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5F2A"/>
              </a:buClr>
              <a:buSzPts val="1400"/>
              <a:buFont typeface="Nanum Gothic Coding"/>
              <a:buNone/>
            </a:pPr>
            <a:r>
              <a:rPr b="1" i="0" lang="en-US" sz="1400" u="none" cap="none" strike="noStrike">
                <a:solidFill>
                  <a:srgbClr val="0B5F2A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6537960" y="2103120"/>
            <a:ext cx="1828800" cy="777240"/>
          </a:xfrm>
          <a:prstGeom prst="roundRect">
            <a:avLst>
              <a:gd fmla="val 7059" name="adj"/>
            </a:avLst>
          </a:prstGeom>
          <a:solidFill>
            <a:srgbClr val="0B1411"/>
          </a:solidFill>
          <a:ln cap="flat" cmpd="sng" w="152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6675120" y="2249424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200"/>
              <a:buFont typeface="Nanum Gothic Coding"/>
              <a:buNone/>
            </a:pPr>
            <a:r>
              <a:rPr b="1" i="0" lang="en-US" sz="12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executeCommand()</a:t>
            </a:r>
            <a:endParaRPr b="0" i="0" sz="12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6675120" y="2542032"/>
            <a:ext cx="1554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830"/>
              <a:buFont typeface="Nanum Gothic Coding"/>
              <a:buNone/>
            </a:pPr>
            <a:r>
              <a:rPr b="0" i="0" lang="en-US" sz="83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input.trim()</a:t>
            </a:r>
            <a:endParaRPr b="0" i="0" sz="83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830"/>
              <a:buFont typeface="Nanum Gothic Coding"/>
              <a:buNone/>
            </a:pPr>
            <a:r>
              <a:rPr b="0" i="0" lang="en-US" sz="83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split(/\s+/)</a:t>
            </a:r>
            <a:endParaRPr b="0" i="0" sz="83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6537960" y="3246120"/>
            <a:ext cx="1828800" cy="777240"/>
          </a:xfrm>
          <a:prstGeom prst="roundRect">
            <a:avLst>
              <a:gd fmla="val 7059" name="adj"/>
            </a:avLst>
          </a:prstGeom>
          <a:solidFill>
            <a:srgbClr val="0B1411"/>
          </a:solidFill>
          <a:ln cap="flat" cmpd="sng" w="15225">
            <a:solidFill>
              <a:srgbClr val="00E6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6675120" y="3392424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200"/>
              <a:buFont typeface="Nanum Gothic Coding"/>
              <a:buNone/>
            </a:pPr>
            <a:r>
              <a:rPr b="1" i="0" lang="en-US" sz="12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Terminal</a:t>
            </a:r>
            <a:endParaRPr b="0" i="0" sz="12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6675120" y="3685032"/>
            <a:ext cx="1554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830"/>
              <a:buFont typeface="Nanum Gothic Coding"/>
              <a:buNone/>
            </a:pPr>
            <a:r>
              <a:rPr b="0" i="0" lang="en-US" sz="83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entries 추가</a:t>
            </a:r>
            <a:endParaRPr b="0" i="0" sz="83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830"/>
              <a:buFont typeface="Nanum Gothic Coding"/>
              <a:buNone/>
            </a:pPr>
            <a:r>
              <a:rPr b="0" i="0" lang="en-US" sz="83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필요 시 navigate()</a:t>
            </a:r>
            <a:endParaRPr b="0" i="0" sz="83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8787384" y="3017520"/>
            <a:ext cx="20116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5F2A"/>
              </a:buClr>
              <a:buSzPts val="1400"/>
              <a:buFont typeface="Nanum Gothic Coding"/>
              <a:buNone/>
            </a:pPr>
            <a:r>
              <a:rPr b="1" i="0" lang="en-US" sz="1400" u="none" cap="none" strike="noStrike">
                <a:solidFill>
                  <a:srgbClr val="0B5F2A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9281160" y="2148840"/>
            <a:ext cx="2057400" cy="1828800"/>
          </a:xfrm>
          <a:prstGeom prst="roundRect">
            <a:avLst>
              <a:gd fmla="val 1500" name="adj"/>
            </a:avLst>
          </a:prstGeom>
          <a:solidFill>
            <a:srgbClr val="10151B"/>
          </a:solidFill>
          <a:ln cap="flat" cmpd="sng" w="12700">
            <a:solidFill>
              <a:srgbClr val="1B6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9299448" y="2167128"/>
            <a:ext cx="2020824" cy="301752"/>
          </a:xfrm>
          <a:prstGeom prst="rect">
            <a:avLst/>
          </a:prstGeom>
          <a:solidFill>
            <a:srgbClr val="121D18"/>
          </a:solidFill>
          <a:ln cap="flat" cmpd="sng" w="12700">
            <a:solidFill>
              <a:srgbClr val="121D1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9427464" y="2267712"/>
            <a:ext cx="50292" cy="50292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9546336" y="2267712"/>
            <a:ext cx="50292" cy="50292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9665208" y="2267712"/>
            <a:ext cx="50292" cy="50292"/>
          </a:xfrm>
          <a:prstGeom prst="ellipse">
            <a:avLst/>
          </a:prstGeom>
          <a:solidFill>
            <a:srgbClr val="00E676"/>
          </a:solidFill>
          <a:ln cap="flat" cmpd="sng" w="12700">
            <a:solidFill>
              <a:srgbClr val="00E67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9866376" y="2240280"/>
            <a:ext cx="132588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550"/>
              <a:buFont typeface="Nanum Gothic Coding"/>
              <a:buNone/>
            </a:pPr>
            <a:r>
              <a:rPr b="0" i="0" lang="en-US" sz="5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example</a:t>
            </a:r>
            <a:endParaRPr b="0" i="0" sz="5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9537192" y="2651760"/>
            <a:ext cx="1618488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E234"/>
              </a:buClr>
              <a:buSzPts val="1250"/>
              <a:buFont typeface="Nanum Gothic Coding"/>
              <a:buNone/>
            </a:pPr>
            <a:r>
              <a:rPr b="0" i="0" lang="en-US" sz="1250" u="none" cap="none" strike="noStrike">
                <a:solidFill>
                  <a:srgbClr val="8AE234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$ whoami</a:t>
            </a:r>
            <a:endParaRPr b="0" i="0" sz="12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E234"/>
              </a:buClr>
              <a:buSzPts val="1250"/>
              <a:buFont typeface="Nanum Gothic Coding"/>
              <a:buNone/>
            </a:pPr>
            <a:r>
              <a:rPr b="0" i="0" lang="en-US" sz="1250" u="none" cap="none" strike="noStrike">
                <a:solidFill>
                  <a:srgbClr val="8AE234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( ﾉ ﾟｰﾟ)ﾉ</a:t>
            </a:r>
            <a:endParaRPr b="0" i="0" sz="12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E234"/>
              </a:buClr>
              <a:buSzPts val="1250"/>
              <a:buFont typeface="Nanum Gothic Coding"/>
              <a:buNone/>
            </a:pPr>
            <a:r>
              <a:rPr b="0" i="0" lang="en-US" sz="1250" u="none" cap="none" strike="noStrike">
                <a:solidFill>
                  <a:srgbClr val="8AE234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route: /whoami</a:t>
            </a:r>
            <a:endParaRPr b="0" i="0" sz="12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06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6"/>
          </a:solidFill>
          <a:ln cap="flat" cmpd="sng" w="12700">
            <a:solidFill>
              <a:srgbClr val="05080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201168" y="91440"/>
            <a:ext cx="1828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500"/>
              <a:buFont typeface="Nanum Gothic Coding"/>
              <a:buNone/>
            </a:pPr>
            <a:r>
              <a:rPr b="0" i="0" lang="en-US" sz="50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linux/presentation-template</a:t>
            </a:r>
            <a:endParaRPr b="0" i="0" sz="5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11594592" y="100584"/>
            <a:ext cx="41148" cy="41148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11695176" y="100584"/>
            <a:ext cx="41148" cy="41148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11795760" y="100584"/>
            <a:ext cx="41148" cy="41148"/>
          </a:xfrm>
          <a:prstGeom prst="ellipse">
            <a:avLst/>
          </a:prstGeom>
          <a:solidFill>
            <a:srgbClr val="00E676"/>
          </a:solidFill>
          <a:ln cap="flat" cmpd="sng" w="12700">
            <a:solidFill>
              <a:srgbClr val="00E67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502920" y="393192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900"/>
              <a:buFont typeface="Nanum Gothic Coding"/>
              <a:buNone/>
            </a:pPr>
            <a:r>
              <a:rPr b="1" i="0" lang="en-US" sz="900" u="none" cap="none" strike="noStrike">
                <a:solidFill>
                  <a:srgbClr val="00E67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$ ls pages/</a:t>
            </a:r>
            <a:endParaRPr b="0" i="0" sz="9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201168" y="6629400"/>
            <a:ext cx="18288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450"/>
              <a:buFont typeface="Nanum Gothic Coding"/>
              <a:buNone/>
            </a:pPr>
            <a:r>
              <a:rPr b="0" i="0" lang="en-US" sz="4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user@linux:~/react-study-project</a:t>
            </a:r>
            <a:endParaRPr b="0" i="0" sz="4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9555480" y="6620256"/>
            <a:ext cx="23774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450"/>
              <a:buFont typeface="Nanum Gothic Coding"/>
              <a:buNone/>
            </a:pPr>
            <a:r>
              <a:rPr b="0" i="0" lang="en-US" sz="4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07  |  npm run dev  |  react + vite</a:t>
            </a:r>
            <a:endParaRPr b="0" i="0" sz="4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640080" y="1143000"/>
            <a:ext cx="6126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3000"/>
              <a:buFont typeface="Nanum Gothic Coding"/>
              <a:buNone/>
            </a:pPr>
            <a:r>
              <a:rPr b="1" i="0" lang="en-US" sz="30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&lt;PAGE_MODULES&gt;</a:t>
            </a:r>
            <a:endParaRPr b="0" i="0" sz="30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640080" y="1645920"/>
            <a:ext cx="6126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1250"/>
              <a:buFont typeface="Nanum Gothic Coding"/>
              <a:buNone/>
            </a:pPr>
            <a:r>
              <a:rPr b="0" i="0" lang="en-US" sz="125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기능 단위로 페이지를 분리하고 동일한 터미널 톤앤매너 유지</a:t>
            </a:r>
            <a:endParaRPr b="0" i="0" sz="12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685800" y="2240280"/>
            <a:ext cx="2148840" cy="2670048"/>
          </a:xfrm>
          <a:prstGeom prst="roundRect">
            <a:avLst>
              <a:gd fmla="val 1277" name="adj"/>
            </a:avLst>
          </a:prstGeom>
          <a:solidFill>
            <a:srgbClr val="10151B"/>
          </a:solidFill>
          <a:ln cap="flat" cmpd="sng" w="12700">
            <a:solidFill>
              <a:srgbClr val="1B6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704088" y="2258568"/>
            <a:ext cx="2112264" cy="301752"/>
          </a:xfrm>
          <a:prstGeom prst="rect">
            <a:avLst/>
          </a:prstGeom>
          <a:solidFill>
            <a:srgbClr val="121D18"/>
          </a:solidFill>
          <a:ln cap="flat" cmpd="sng" w="12700">
            <a:solidFill>
              <a:srgbClr val="121D1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832104" y="2359152"/>
            <a:ext cx="50292" cy="50292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950976" y="2359152"/>
            <a:ext cx="50292" cy="50292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1069848" y="2359152"/>
            <a:ext cx="50292" cy="50292"/>
          </a:xfrm>
          <a:prstGeom prst="ellipse">
            <a:avLst/>
          </a:prstGeom>
          <a:solidFill>
            <a:srgbClr val="00E676"/>
          </a:solidFill>
          <a:ln cap="flat" cmpd="sng" w="12700">
            <a:solidFill>
              <a:srgbClr val="00E67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1271016" y="2331720"/>
            <a:ext cx="141732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550"/>
              <a:buFont typeface="Nanum Gothic Coding"/>
              <a:buNone/>
            </a:pPr>
            <a:r>
              <a:rPr b="0" i="0" lang="en-US" sz="5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Login.jsx</a:t>
            </a:r>
            <a:endParaRPr b="0" i="0" sz="5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905256" y="2916936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600"/>
              <a:buFont typeface="Nanum Gothic Coding"/>
              <a:buNone/>
            </a:pPr>
            <a:r>
              <a:rPr b="1" i="0" lang="en-US" sz="16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Login</a:t>
            </a:r>
            <a:endParaRPr b="0" i="0" sz="16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914400" y="3447288"/>
            <a:ext cx="1737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1050"/>
              <a:buFont typeface="Nanum Gothic Coding"/>
              <a:buNone/>
            </a:pPr>
            <a:r>
              <a:rPr b="0" i="0" lang="en-US" sz="105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ID/PW 입력</a:t>
            </a:r>
            <a:endParaRPr b="0" i="0" sz="10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1050"/>
              <a:buFont typeface="Nanum Gothic Coding"/>
              <a:buNone/>
            </a:pPr>
            <a:r>
              <a:rPr lang="en-US" sz="1050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로그인 </a:t>
            </a:r>
            <a:r>
              <a:rPr b="0" i="0" lang="en-US" sz="105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성공 시 </a:t>
            </a:r>
            <a:endParaRPr b="0" i="0" sz="1050" u="none" cap="none" strike="noStrike">
              <a:solidFill>
                <a:srgbClr val="A8B0A8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1050"/>
              <a:buFont typeface="Nanum Gothic Coding"/>
              <a:buNone/>
            </a:pPr>
            <a:r>
              <a:rPr lang="en-US" sz="1050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terminal -&gt;</a:t>
            </a:r>
            <a:r>
              <a:rPr b="0" i="0" lang="en-US" sz="105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user 전달</a:t>
            </a:r>
            <a:endParaRPr b="0" i="0" sz="10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cxnSp>
        <p:nvCxnSpPr>
          <p:cNvPr id="237" name="Google Shape;237;p7"/>
          <p:cNvCxnSpPr/>
          <p:nvPr/>
        </p:nvCxnSpPr>
        <p:spPr>
          <a:xfrm>
            <a:off x="914400" y="4398264"/>
            <a:ext cx="1508760" cy="0"/>
          </a:xfrm>
          <a:prstGeom prst="straightConnector1">
            <a:avLst/>
          </a:prstGeom>
          <a:noFill/>
          <a:ln cap="flat" cmpd="sng" w="12700">
            <a:solidFill>
              <a:srgbClr val="00E67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8" name="Google Shape;238;p7"/>
          <p:cNvSpPr/>
          <p:nvPr/>
        </p:nvSpPr>
        <p:spPr>
          <a:xfrm>
            <a:off x="914400" y="4526280"/>
            <a:ext cx="16002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680"/>
              <a:buFont typeface="Nanum Gothic Coding"/>
              <a:buNone/>
            </a:pPr>
            <a:r>
              <a:rPr b="0" i="0" lang="en-US" sz="680" u="none" cap="none" strike="noStrike">
                <a:solidFill>
                  <a:srgbClr val="00E67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status: mounted</a:t>
            </a:r>
            <a:endParaRPr b="0" i="0" sz="68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3493008" y="2240280"/>
            <a:ext cx="2148840" cy="2670048"/>
          </a:xfrm>
          <a:prstGeom prst="roundRect">
            <a:avLst>
              <a:gd fmla="val 1277" name="adj"/>
            </a:avLst>
          </a:prstGeom>
          <a:solidFill>
            <a:srgbClr val="10151B"/>
          </a:solidFill>
          <a:ln cap="flat" cmpd="sng" w="12700">
            <a:solidFill>
              <a:srgbClr val="1B6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3511296" y="2258568"/>
            <a:ext cx="2112264" cy="301752"/>
          </a:xfrm>
          <a:prstGeom prst="rect">
            <a:avLst/>
          </a:prstGeom>
          <a:solidFill>
            <a:srgbClr val="121D18"/>
          </a:solidFill>
          <a:ln cap="flat" cmpd="sng" w="12700">
            <a:solidFill>
              <a:srgbClr val="121D1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3639312" y="2359152"/>
            <a:ext cx="50292" cy="50292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3758184" y="2359152"/>
            <a:ext cx="50292" cy="50292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3877056" y="2359152"/>
            <a:ext cx="50292" cy="50292"/>
          </a:xfrm>
          <a:prstGeom prst="ellipse">
            <a:avLst/>
          </a:prstGeom>
          <a:solidFill>
            <a:srgbClr val="00E676"/>
          </a:solidFill>
          <a:ln cap="flat" cmpd="sng" w="12700">
            <a:solidFill>
              <a:srgbClr val="00E67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4078224" y="2331720"/>
            <a:ext cx="141732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550"/>
              <a:buFont typeface="Nanum Gothic Coding"/>
              <a:buNone/>
            </a:pPr>
            <a:r>
              <a:rPr b="0" i="0" lang="en-US" sz="5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Register.jsx</a:t>
            </a:r>
            <a:endParaRPr b="0" i="0" sz="5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3712464" y="2916936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600"/>
              <a:buFont typeface="Nanum Gothic Coding"/>
              <a:buNone/>
            </a:pPr>
            <a:r>
              <a:rPr b="1" i="0" lang="en-US" sz="16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Register</a:t>
            </a:r>
            <a:endParaRPr b="0" i="0" sz="16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3721608" y="3447288"/>
            <a:ext cx="1737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1050"/>
              <a:buFont typeface="Nanum Gothic Coding"/>
              <a:buNone/>
            </a:pPr>
            <a:r>
              <a:rPr b="0" i="0" lang="en-US" sz="105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ID/PW 정규식</a:t>
            </a:r>
            <a:endParaRPr b="0" i="0" sz="10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1050"/>
              <a:buFont typeface="Nanum Gothic Coding"/>
              <a:buNone/>
            </a:pPr>
            <a:r>
              <a:rPr b="0" i="0" lang="en-US" sz="105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검증 메시지 출력</a:t>
            </a:r>
            <a:endParaRPr b="0" i="0" sz="10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cxnSp>
        <p:nvCxnSpPr>
          <p:cNvPr id="247" name="Google Shape;247;p7"/>
          <p:cNvCxnSpPr/>
          <p:nvPr/>
        </p:nvCxnSpPr>
        <p:spPr>
          <a:xfrm>
            <a:off x="3721608" y="4398264"/>
            <a:ext cx="1508760" cy="0"/>
          </a:xfrm>
          <a:prstGeom prst="straightConnector1">
            <a:avLst/>
          </a:prstGeom>
          <a:noFill/>
          <a:ln cap="flat" cmpd="sng" w="12700">
            <a:solidFill>
              <a:srgbClr val="F2C9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7"/>
          <p:cNvSpPr/>
          <p:nvPr/>
        </p:nvSpPr>
        <p:spPr>
          <a:xfrm>
            <a:off x="3721608" y="4526280"/>
            <a:ext cx="16002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C94C"/>
              </a:buClr>
              <a:buSzPts val="680"/>
              <a:buFont typeface="Nanum Gothic Coding"/>
              <a:buNone/>
            </a:pPr>
            <a:r>
              <a:rPr b="0" i="0" lang="en-US" sz="680" u="none" cap="none" strike="noStrike">
                <a:solidFill>
                  <a:srgbClr val="F2C94C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status: mounted</a:t>
            </a:r>
            <a:endParaRPr b="0" i="0" sz="68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6291072" y="2240280"/>
            <a:ext cx="2148840" cy="2670048"/>
          </a:xfrm>
          <a:prstGeom prst="roundRect">
            <a:avLst>
              <a:gd fmla="val 1277" name="adj"/>
            </a:avLst>
          </a:prstGeom>
          <a:solidFill>
            <a:srgbClr val="10151B"/>
          </a:solidFill>
          <a:ln cap="flat" cmpd="sng" w="12700">
            <a:solidFill>
              <a:srgbClr val="1B6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6309360" y="2258568"/>
            <a:ext cx="2112264" cy="301752"/>
          </a:xfrm>
          <a:prstGeom prst="rect">
            <a:avLst/>
          </a:prstGeom>
          <a:solidFill>
            <a:srgbClr val="121D18"/>
          </a:solidFill>
          <a:ln cap="flat" cmpd="sng" w="12700">
            <a:solidFill>
              <a:srgbClr val="121D1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6437376" y="2359152"/>
            <a:ext cx="50292" cy="50292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6556248" y="2359152"/>
            <a:ext cx="50292" cy="50292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6675120" y="2359152"/>
            <a:ext cx="50292" cy="50292"/>
          </a:xfrm>
          <a:prstGeom prst="ellipse">
            <a:avLst/>
          </a:prstGeom>
          <a:solidFill>
            <a:srgbClr val="00E676"/>
          </a:solidFill>
          <a:ln cap="flat" cmpd="sng" w="12700">
            <a:solidFill>
              <a:srgbClr val="00E67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6876288" y="2331720"/>
            <a:ext cx="141732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550"/>
              <a:buFont typeface="Nanum Gothic Coding"/>
              <a:buNone/>
            </a:pPr>
            <a:r>
              <a:rPr b="0" i="0" lang="en-US" sz="5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Hobby.jsx</a:t>
            </a:r>
            <a:endParaRPr b="0" i="0" sz="5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6510528" y="2916936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600"/>
              <a:buFont typeface="Nanum Gothic Coding"/>
              <a:buNone/>
            </a:pPr>
            <a:r>
              <a:rPr b="1" i="0" lang="en-US" sz="16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Hobby</a:t>
            </a:r>
            <a:endParaRPr b="0" i="0" sz="16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6519672" y="3447288"/>
            <a:ext cx="1737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1050"/>
              <a:buFont typeface="Nanum Gothic Coding"/>
              <a:buNone/>
            </a:pPr>
            <a:r>
              <a:rPr b="0" i="0" lang="en-US" sz="105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3x3 이미지 갤러리</a:t>
            </a:r>
            <a:endParaRPr b="0" i="0" sz="10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1050"/>
              <a:buFont typeface="Nanum Gothic Coding"/>
              <a:buNone/>
            </a:pPr>
            <a:r>
              <a:rPr b="0" i="0" lang="en-US" sz="105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hover 설명 / 클릭 모달</a:t>
            </a:r>
            <a:endParaRPr b="0" i="0" sz="10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cxnSp>
        <p:nvCxnSpPr>
          <p:cNvPr id="257" name="Google Shape;257;p7"/>
          <p:cNvCxnSpPr/>
          <p:nvPr/>
        </p:nvCxnSpPr>
        <p:spPr>
          <a:xfrm>
            <a:off x="6519672" y="4398264"/>
            <a:ext cx="1508760" cy="0"/>
          </a:xfrm>
          <a:prstGeom prst="straightConnector1">
            <a:avLst/>
          </a:prstGeom>
          <a:noFill/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8" name="Google Shape;258;p7"/>
          <p:cNvSpPr/>
          <p:nvPr/>
        </p:nvSpPr>
        <p:spPr>
          <a:xfrm>
            <a:off x="6519672" y="4526280"/>
            <a:ext cx="16002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680"/>
              <a:buFont typeface="Nanum Gothic Coding"/>
              <a:buNone/>
            </a:pPr>
            <a:r>
              <a:rPr b="0" i="0" lang="en-US" sz="680" u="none" cap="none" strike="noStrike">
                <a:solidFill>
                  <a:srgbClr val="38BDF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status: mounted</a:t>
            </a:r>
            <a:endParaRPr b="0" i="0" sz="68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9098280" y="2240280"/>
            <a:ext cx="2148840" cy="2670048"/>
          </a:xfrm>
          <a:prstGeom prst="roundRect">
            <a:avLst>
              <a:gd fmla="val 1277" name="adj"/>
            </a:avLst>
          </a:prstGeom>
          <a:solidFill>
            <a:srgbClr val="10151B"/>
          </a:solidFill>
          <a:ln cap="flat" cmpd="sng" w="12700">
            <a:solidFill>
              <a:srgbClr val="1B6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9116568" y="2258568"/>
            <a:ext cx="2112264" cy="301752"/>
          </a:xfrm>
          <a:prstGeom prst="rect">
            <a:avLst/>
          </a:prstGeom>
          <a:solidFill>
            <a:srgbClr val="121D18"/>
          </a:solidFill>
          <a:ln cap="flat" cmpd="sng" w="12700">
            <a:solidFill>
              <a:srgbClr val="121D1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9244584" y="2359152"/>
            <a:ext cx="50292" cy="50292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9363456" y="2359152"/>
            <a:ext cx="50292" cy="50292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9482328" y="2359152"/>
            <a:ext cx="50292" cy="50292"/>
          </a:xfrm>
          <a:prstGeom prst="ellipse">
            <a:avLst/>
          </a:prstGeom>
          <a:solidFill>
            <a:srgbClr val="00E676"/>
          </a:solidFill>
          <a:ln cap="flat" cmpd="sng" w="12700">
            <a:solidFill>
              <a:srgbClr val="00E67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9683496" y="2331720"/>
            <a:ext cx="141732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550"/>
              <a:buFont typeface="Nanum Gothic Coding"/>
              <a:buNone/>
            </a:pPr>
            <a:r>
              <a:rPr b="0" i="0" lang="en-US" sz="5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Whoami.jsx</a:t>
            </a:r>
            <a:endParaRPr b="0" i="0" sz="5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9317736" y="2916936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600"/>
              <a:buFont typeface="Nanum Gothic Coding"/>
              <a:buNone/>
            </a:pPr>
            <a:r>
              <a:rPr b="1" i="0" lang="en-US" sz="16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Whoami</a:t>
            </a:r>
            <a:endParaRPr b="0" i="0" sz="16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9326880" y="3447288"/>
            <a:ext cx="1737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1050"/>
              <a:buFont typeface="Nanum Gothic Coding"/>
              <a:buNone/>
            </a:pPr>
            <a:r>
              <a:rPr b="0" i="0" lang="en-US" sz="105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프로필 / Stack</a:t>
            </a:r>
            <a:endParaRPr b="0" i="0" sz="10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1050"/>
              <a:buFont typeface="Nanum Gothic Coding"/>
              <a:buNone/>
            </a:pPr>
            <a:r>
              <a:rPr b="0" i="0" lang="en-US" sz="105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Highlights / GitHub link</a:t>
            </a:r>
            <a:endParaRPr b="0" i="0" sz="10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cxnSp>
        <p:nvCxnSpPr>
          <p:cNvPr id="267" name="Google Shape;267;p7"/>
          <p:cNvCxnSpPr/>
          <p:nvPr/>
        </p:nvCxnSpPr>
        <p:spPr>
          <a:xfrm>
            <a:off x="9326880" y="4398264"/>
            <a:ext cx="1508760" cy="0"/>
          </a:xfrm>
          <a:prstGeom prst="straightConnector1">
            <a:avLst/>
          </a:prstGeom>
          <a:noFill/>
          <a:ln cap="flat" cmpd="sng" w="12700">
            <a:solidFill>
              <a:srgbClr val="C084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p7"/>
          <p:cNvSpPr/>
          <p:nvPr/>
        </p:nvSpPr>
        <p:spPr>
          <a:xfrm>
            <a:off x="9326880" y="4526280"/>
            <a:ext cx="16002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680"/>
              <a:buFont typeface="Nanum Gothic Coding"/>
              <a:buNone/>
            </a:pPr>
            <a:r>
              <a:rPr b="0" i="0" lang="en-US" sz="680" u="none" cap="none" strike="noStrike">
                <a:solidFill>
                  <a:srgbClr val="C084FC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status: mounted</a:t>
            </a:r>
            <a:endParaRPr b="0" i="0" sz="68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06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6"/>
          </a:solidFill>
          <a:ln cap="flat" cmpd="sng" w="12700">
            <a:solidFill>
              <a:srgbClr val="05080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201168" y="91440"/>
            <a:ext cx="1828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500"/>
              <a:buFont typeface="Nanum Gothic Coding"/>
              <a:buNone/>
            </a:pPr>
            <a:r>
              <a:rPr b="0" i="0" lang="en-US" sz="50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linux/presentation-template</a:t>
            </a:r>
            <a:endParaRPr b="0" i="0" sz="5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11594592" y="100584"/>
            <a:ext cx="41148" cy="41148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11695176" y="100584"/>
            <a:ext cx="41148" cy="41148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11795760" y="100584"/>
            <a:ext cx="41148" cy="41148"/>
          </a:xfrm>
          <a:prstGeom prst="ellipse">
            <a:avLst/>
          </a:prstGeom>
          <a:solidFill>
            <a:srgbClr val="00E676"/>
          </a:solidFill>
          <a:ln cap="flat" cmpd="sng" w="12700">
            <a:solidFill>
              <a:srgbClr val="00E67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502920" y="393192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900"/>
              <a:buFont typeface="Nanum Gothic Coding"/>
              <a:buNone/>
            </a:pPr>
            <a:r>
              <a:rPr b="1" i="0" lang="en-US" sz="900" u="none" cap="none" strike="noStrike">
                <a:solidFill>
                  <a:srgbClr val="00E67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$ cat ux-details.log</a:t>
            </a:r>
            <a:endParaRPr b="0" i="0" sz="9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201168" y="6629400"/>
            <a:ext cx="18288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450"/>
              <a:buFont typeface="Nanum Gothic Coding"/>
              <a:buNone/>
            </a:pPr>
            <a:r>
              <a:rPr b="0" i="0" lang="en-US" sz="4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user@linux:~/react-study-project</a:t>
            </a:r>
            <a:endParaRPr b="0" i="0" sz="4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9555480" y="6620256"/>
            <a:ext cx="23774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450"/>
              <a:buFont typeface="Nanum Gothic Coding"/>
              <a:buNone/>
            </a:pPr>
            <a:r>
              <a:rPr b="0" i="0" lang="en-US" sz="4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08  |  npm run dev  |  react + vite</a:t>
            </a:r>
            <a:endParaRPr b="0" i="0" sz="4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640080" y="1143000"/>
            <a:ext cx="6126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3000"/>
              <a:buFont typeface="Nanum Gothic Coding"/>
              <a:buNone/>
            </a:pPr>
            <a:r>
              <a:rPr b="1" i="0" lang="en-US" sz="30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&lt;UX_DETAILS&gt;</a:t>
            </a:r>
            <a:endParaRPr b="0" i="0" sz="30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640080" y="1645920"/>
            <a:ext cx="6126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1250"/>
              <a:buFont typeface="Nanum Gothic Coding"/>
              <a:buNone/>
            </a:pPr>
            <a:r>
              <a:rPr b="0" i="0" lang="en-US" sz="125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터미널 경험을 유지하기 위한 작은 인터랙션들</a:t>
            </a:r>
            <a:endParaRPr b="0" i="0" sz="12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685800" y="2148840"/>
            <a:ext cx="4663440" cy="3429000"/>
          </a:xfrm>
          <a:prstGeom prst="roundRect">
            <a:avLst>
              <a:gd fmla="val 800" name="adj"/>
            </a:avLst>
          </a:prstGeom>
          <a:solidFill>
            <a:srgbClr val="10151B"/>
          </a:solidFill>
          <a:ln cap="flat" cmpd="sng" w="12700">
            <a:solidFill>
              <a:srgbClr val="1B6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704088" y="2167128"/>
            <a:ext cx="4626864" cy="301752"/>
          </a:xfrm>
          <a:prstGeom prst="rect">
            <a:avLst/>
          </a:prstGeom>
          <a:solidFill>
            <a:srgbClr val="121D18"/>
          </a:solidFill>
          <a:ln cap="flat" cmpd="sng" w="12700">
            <a:solidFill>
              <a:srgbClr val="121D1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832104" y="2267712"/>
            <a:ext cx="50292" cy="50292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950976" y="2267712"/>
            <a:ext cx="50292" cy="50292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1069848" y="2267712"/>
            <a:ext cx="50292" cy="50292"/>
          </a:xfrm>
          <a:prstGeom prst="ellipse">
            <a:avLst/>
          </a:prstGeom>
          <a:solidFill>
            <a:srgbClr val="00E676"/>
          </a:solidFill>
          <a:ln cap="flat" cmpd="sng" w="12700">
            <a:solidFill>
              <a:srgbClr val="00E67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1271016" y="2240280"/>
            <a:ext cx="393192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550"/>
              <a:buFont typeface="Nanum Gothic Coding"/>
              <a:buNone/>
            </a:pPr>
            <a:r>
              <a:rPr b="0" i="0" lang="en-US" sz="5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terminal-session</a:t>
            </a:r>
            <a:endParaRPr b="0" i="0" sz="5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941832" y="2651760"/>
            <a:ext cx="4224528" cy="2770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050"/>
              <a:buFont typeface="Nanum Gothic Coding"/>
              <a:buNone/>
            </a:pPr>
            <a:r>
              <a:rPr b="0" i="0" lang="en-US" sz="105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lee@myHome:~$ help</a:t>
            </a:r>
            <a:endParaRPr b="0" i="0" sz="10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050"/>
              <a:buFont typeface="Nanum Gothic Coding"/>
              <a:buNone/>
            </a:pPr>
            <a:r>
              <a:rPr b="0" i="0" lang="en-US" sz="105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Available commands:</a:t>
            </a:r>
            <a:endParaRPr b="0" i="0" sz="10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050"/>
              <a:buFont typeface="Nanum Gothic Coding"/>
              <a:buNone/>
            </a:pPr>
            <a:r>
              <a:rPr b="0" i="0" lang="en-US" sz="105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help   - 명령어 목록 출력</a:t>
            </a:r>
            <a:endParaRPr b="0" i="0" sz="10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050"/>
              <a:buFont typeface="Nanum Gothic Coding"/>
              <a:buNone/>
            </a:pPr>
            <a:r>
              <a:rPr b="0" i="0" lang="en-US" sz="105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echo   - 입력한 문자열 출력</a:t>
            </a:r>
            <a:endParaRPr b="0" i="0" sz="10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050"/>
              <a:buFont typeface="Nanum Gothic Coding"/>
              <a:buNone/>
            </a:pPr>
            <a:r>
              <a:rPr b="0" i="0" lang="en-US" sz="105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clear  - 터미널 화면 초기화</a:t>
            </a:r>
            <a:endParaRPr b="0" i="0" sz="10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050"/>
              <a:buFont typeface="Nanum Gothic Coding"/>
              <a:buNone/>
            </a:pPr>
            <a:r>
              <a:rPr b="0" i="0" lang="en-US" sz="105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logout - 로그아웃</a:t>
            </a:r>
            <a:endParaRPr b="0" i="0" sz="10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050"/>
              <a:buFont typeface="Nanum Gothic Coding"/>
              <a:buNone/>
            </a:pPr>
            <a:r>
              <a:rPr b="0" i="0" lang="en-US" sz="105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hobby  - 취미</a:t>
            </a:r>
            <a:endParaRPr b="0" i="0" sz="10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anum Gothic Coding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050"/>
              <a:buFont typeface="Nanum Gothic Coding"/>
              <a:buNone/>
            </a:pPr>
            <a:r>
              <a:rPr b="0" i="0" lang="en-US" sz="105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lee@myHome:~$ hobby</a:t>
            </a:r>
            <a:endParaRPr b="0" i="0" sz="10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050"/>
              <a:buFont typeface="Nanum Gothic Coding"/>
              <a:buNone/>
            </a:pPr>
            <a:r>
              <a:rPr b="0" i="0" lang="en-US" sz="105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Opening hobby archive...</a:t>
            </a:r>
            <a:endParaRPr b="0" i="0" sz="10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6080760" y="2258568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1100"/>
              <a:buFont typeface="Nanum Gothic Coding"/>
              <a:buNone/>
            </a:pPr>
            <a:r>
              <a:rPr b="1" i="0" lang="en-US" sz="1100" u="none" cap="none" strike="noStrike">
                <a:solidFill>
                  <a:srgbClr val="00E67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6428232" y="2240280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250"/>
              <a:buFont typeface="Nanum Gothic Coding"/>
              <a:buNone/>
            </a:pPr>
            <a:r>
              <a:rPr b="0" i="0" lang="en-US" sz="125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터미널 영역 클릭 시 input으로 포커스 이동</a:t>
            </a:r>
            <a:endParaRPr b="0" i="0" sz="12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6080760" y="2880360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1100"/>
              <a:buFont typeface="Nanum Gothic Coding"/>
              <a:buNone/>
            </a:pPr>
            <a:r>
              <a:rPr b="1" i="0" lang="en-US" sz="1100" u="none" cap="none" strike="noStrike">
                <a:solidFill>
                  <a:srgbClr val="00E67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6428232" y="2862072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250"/>
              <a:buFont typeface="Nanum Gothic Coding"/>
              <a:buNone/>
            </a:pPr>
            <a:r>
              <a:rPr b="0" i="0" lang="en-US" sz="125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명령어 결과는 TypeItRenderer로 타이핑 출력</a:t>
            </a:r>
            <a:endParaRPr b="0" i="0" sz="12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6080760" y="3502152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1100"/>
              <a:buFont typeface="Nanum Gothic Coding"/>
              <a:buNone/>
            </a:pPr>
            <a:r>
              <a:rPr b="1" i="0" lang="en-US" sz="1100" u="none" cap="none" strike="noStrike">
                <a:solidFill>
                  <a:srgbClr val="00E67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6428232" y="3483864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250"/>
              <a:buFont typeface="Nanum Gothic Coding"/>
              <a:buNone/>
            </a:pPr>
            <a:r>
              <a:rPr b="0" i="0" lang="en-US" sz="125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output 영역은 필요할 때 자동으로 하단 스크롤</a:t>
            </a:r>
            <a:endParaRPr b="0" i="0" sz="12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6080760" y="4123944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1100"/>
              <a:buFont typeface="Nanum Gothic Coding"/>
              <a:buNone/>
            </a:pPr>
            <a:r>
              <a:rPr b="1" i="0" lang="en-US" sz="1100" u="none" cap="none" strike="noStrike">
                <a:solidFill>
                  <a:srgbClr val="00E67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6428232" y="4105656"/>
            <a:ext cx="4389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250"/>
              <a:buFont typeface="Nanum Gothic Coding"/>
              <a:buNone/>
            </a:pPr>
            <a:r>
              <a:rPr b="0" i="0" lang="en-US" sz="125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오버레이가 열릴 때 배경 Terminal은 inert/aria-hidden 처리</a:t>
            </a:r>
            <a:endParaRPr b="0" i="0" sz="12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6080760" y="4818888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1100"/>
              <a:buFont typeface="Nanum Gothic Coding"/>
              <a:buNone/>
            </a:pPr>
            <a:r>
              <a:rPr b="1" i="0" lang="en-US" sz="1100" u="none" cap="none" strike="noStrike">
                <a:solidFill>
                  <a:srgbClr val="00E67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6428232" y="4800600"/>
            <a:ext cx="4389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250"/>
              <a:buFont typeface="Nanum Gothic Coding"/>
              <a:buNone/>
            </a:pPr>
            <a:r>
              <a:rPr b="0" i="0" lang="en-US" sz="125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Hobby는 hover/focus, ESC 닫기, lazy image loading 포함</a:t>
            </a:r>
            <a:endParaRPr b="0" i="0" sz="12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06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6"/>
          </a:solidFill>
          <a:ln cap="flat" cmpd="sng" w="12700">
            <a:solidFill>
              <a:srgbClr val="05080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201168" y="91440"/>
            <a:ext cx="1828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500"/>
              <a:buFont typeface="Nanum Gothic Coding"/>
              <a:buNone/>
            </a:pPr>
            <a:r>
              <a:rPr b="0" i="0" lang="en-US" sz="50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linux/presentation-template</a:t>
            </a:r>
            <a:endParaRPr b="0" i="0" sz="5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11594592" y="100584"/>
            <a:ext cx="41148" cy="41148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"/>
          <p:cNvSpPr/>
          <p:nvPr/>
        </p:nvSpPr>
        <p:spPr>
          <a:xfrm>
            <a:off x="11695176" y="100584"/>
            <a:ext cx="41148" cy="41148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9"/>
          <p:cNvSpPr/>
          <p:nvPr/>
        </p:nvSpPr>
        <p:spPr>
          <a:xfrm>
            <a:off x="11795760" y="100584"/>
            <a:ext cx="41148" cy="41148"/>
          </a:xfrm>
          <a:prstGeom prst="ellipse">
            <a:avLst/>
          </a:prstGeom>
          <a:solidFill>
            <a:srgbClr val="00E676"/>
          </a:solidFill>
          <a:ln cap="flat" cmpd="sng" w="12700">
            <a:solidFill>
              <a:srgbClr val="00E67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502920" y="393192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900"/>
              <a:buFont typeface="Nanum Gothic Coding"/>
              <a:buNone/>
            </a:pPr>
            <a:r>
              <a:rPr b="1" i="0" lang="en-US" sz="900" u="none" cap="none" strike="noStrike">
                <a:solidFill>
                  <a:srgbClr val="00E67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$ npm run build &amp;&amp; npm run lint</a:t>
            </a:r>
            <a:endParaRPr b="0" i="0" sz="9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201168" y="6629400"/>
            <a:ext cx="18288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450"/>
              <a:buFont typeface="Nanum Gothic Coding"/>
              <a:buNone/>
            </a:pPr>
            <a:r>
              <a:rPr b="0" i="0" lang="en-US" sz="4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user@linux:~/react-study-project</a:t>
            </a:r>
            <a:endParaRPr b="0" i="0" sz="4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9555480" y="6620256"/>
            <a:ext cx="23774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450"/>
              <a:buFont typeface="Nanum Gothic Coding"/>
              <a:buNone/>
            </a:pPr>
            <a:r>
              <a:rPr b="0" i="0" lang="en-US" sz="4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09  |  npm run dev  |  react + vite</a:t>
            </a:r>
            <a:endParaRPr b="0" i="0" sz="4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640080" y="1143000"/>
            <a:ext cx="6126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3000"/>
              <a:buFont typeface="Nanum Gothic Coding"/>
              <a:buNone/>
            </a:pPr>
            <a:r>
              <a:rPr b="1" i="0" lang="en-US" sz="30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&lt;CURRENT_STATUS&gt;</a:t>
            </a:r>
            <a:endParaRPr b="0" i="0" sz="30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640080" y="1645920"/>
            <a:ext cx="6126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1250"/>
              <a:buFont typeface="Nanum Gothic Coding"/>
              <a:buNone/>
            </a:pPr>
            <a:r>
              <a:rPr b="0" i="0" lang="en-US" sz="125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현재 구현 상태와 다음 개선 후보</a:t>
            </a:r>
            <a:endParaRPr b="0" i="0" sz="12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685800" y="2148840"/>
            <a:ext cx="10424160" cy="384048"/>
          </a:xfrm>
          <a:prstGeom prst="rect">
            <a:avLst/>
          </a:prstGeom>
          <a:solidFill>
            <a:srgbClr val="0B1A12"/>
          </a:solidFill>
          <a:ln cap="flat" cmpd="sng" w="9525">
            <a:solidFill>
              <a:srgbClr val="1B6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868680" y="2276856"/>
            <a:ext cx="12801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730"/>
              <a:buFont typeface="Nanum Gothic Coding"/>
              <a:buNone/>
            </a:pPr>
            <a:r>
              <a:rPr b="1" i="0" lang="en-US" sz="730" u="none" cap="none" strike="noStrike">
                <a:solidFill>
                  <a:srgbClr val="00E67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ITEM</a:t>
            </a:r>
            <a:endParaRPr b="0" i="0" sz="73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2834640" y="2276856"/>
            <a:ext cx="13716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730"/>
              <a:buFont typeface="Nanum Gothic Coding"/>
              <a:buNone/>
            </a:pPr>
            <a:r>
              <a:rPr b="1" i="0" lang="en-US" sz="730" u="none" cap="none" strike="noStrike">
                <a:solidFill>
                  <a:srgbClr val="00E67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STATUS</a:t>
            </a:r>
            <a:endParaRPr b="0" i="0" sz="73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5029200" y="2276856"/>
            <a:ext cx="10972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730"/>
              <a:buFont typeface="Nanum Gothic Coding"/>
              <a:buNone/>
            </a:pPr>
            <a:r>
              <a:rPr b="1" i="0" lang="en-US" sz="730" u="none" cap="none" strike="noStrike">
                <a:solidFill>
                  <a:srgbClr val="00E67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NOTE</a:t>
            </a:r>
            <a:endParaRPr b="0" i="0" sz="73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685800" y="2569464"/>
            <a:ext cx="10424160" cy="402336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1B2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868680" y="2688336"/>
            <a:ext cx="14630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850"/>
              <a:buFont typeface="Nanum Gothic Coding"/>
              <a:buNone/>
            </a:pPr>
            <a:r>
              <a:rPr b="0" i="0" lang="en-US" sz="85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UI 구조</a:t>
            </a:r>
            <a:endParaRPr b="0" i="0" sz="8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2834640" y="2688336"/>
            <a:ext cx="10972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850"/>
              <a:buFont typeface="Nanum Gothic Coding"/>
              <a:buNone/>
            </a:pPr>
            <a:r>
              <a:rPr b="0" i="0" lang="en-US" sz="850" u="none" cap="none" strike="noStrike">
                <a:solidFill>
                  <a:srgbClr val="00E67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done</a:t>
            </a:r>
            <a:endParaRPr b="0" i="0" sz="8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5029200" y="2688336"/>
            <a:ext cx="53035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850"/>
              <a:buFont typeface="Nanum Gothic Coding"/>
              <a:buNone/>
            </a:pPr>
            <a:r>
              <a:rPr b="0" i="0" lang="en-US" sz="85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Boot → TerminalLayout → Overlay 흐름 구현</a:t>
            </a:r>
            <a:endParaRPr b="0" i="0" sz="8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685800" y="3063240"/>
            <a:ext cx="10424160" cy="402336"/>
          </a:xfrm>
          <a:prstGeom prst="rect">
            <a:avLst/>
          </a:prstGeom>
          <a:solidFill>
            <a:srgbClr val="101713"/>
          </a:solidFill>
          <a:ln cap="flat" cmpd="sng" w="9525">
            <a:solidFill>
              <a:srgbClr val="1B2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868680" y="3182112"/>
            <a:ext cx="14630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850"/>
              <a:buFont typeface="Nanum Gothic Coding"/>
              <a:buNone/>
            </a:pPr>
            <a:r>
              <a:rPr b="0" i="0" lang="en-US" sz="85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명령어</a:t>
            </a:r>
            <a:endParaRPr b="0" i="0" sz="8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2834640" y="3182112"/>
            <a:ext cx="10972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850"/>
              <a:buFont typeface="Nanum Gothic Coding"/>
              <a:buNone/>
            </a:pPr>
            <a:r>
              <a:rPr b="0" i="0" lang="en-US" sz="850" u="none" cap="none" strike="noStrike">
                <a:solidFill>
                  <a:srgbClr val="00E67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done</a:t>
            </a:r>
            <a:endParaRPr b="0" i="0" sz="8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5029200" y="3182112"/>
            <a:ext cx="53035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850"/>
              <a:buFont typeface="Nanum Gothic Coding"/>
              <a:buNone/>
            </a:pPr>
            <a:r>
              <a:rPr b="0" i="0" lang="en-US" sz="85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help/echo/clear/logout/hobby/whoami</a:t>
            </a:r>
            <a:endParaRPr b="0" i="0" sz="8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685800" y="3557016"/>
            <a:ext cx="10424160" cy="402336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1B2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868680" y="3675888"/>
            <a:ext cx="14630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850"/>
              <a:buFont typeface="Nanum Gothic Coding"/>
              <a:buNone/>
            </a:pPr>
            <a:r>
              <a:rPr b="0" i="0" lang="en-US" sz="85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인증</a:t>
            </a:r>
            <a:endParaRPr b="0" i="0" sz="8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2834640" y="3675888"/>
            <a:ext cx="10972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C94C"/>
              </a:buClr>
              <a:buSzPts val="850"/>
              <a:buFont typeface="Nanum Gothic Coding"/>
              <a:buNone/>
            </a:pPr>
            <a:r>
              <a:rPr b="0" i="0" lang="en-US" sz="850" u="none" cap="none" strike="noStrike">
                <a:solidFill>
                  <a:srgbClr val="F2C94C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demo</a:t>
            </a:r>
            <a:endParaRPr b="0" i="0" sz="8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5029200" y="3675888"/>
            <a:ext cx="53035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850"/>
              <a:buFont typeface="Nanum Gothic Coding"/>
              <a:buNone/>
            </a:pPr>
            <a:r>
              <a:rPr b="0" i="0" lang="en-US" sz="85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현재는 클라이언트 상태 + 고정 계정</a:t>
            </a:r>
            <a:endParaRPr b="0" i="0" sz="8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685800" y="4050792"/>
            <a:ext cx="10424160" cy="402336"/>
          </a:xfrm>
          <a:prstGeom prst="rect">
            <a:avLst/>
          </a:prstGeom>
          <a:solidFill>
            <a:srgbClr val="101713"/>
          </a:solidFill>
          <a:ln cap="flat" cmpd="sng" w="9525">
            <a:solidFill>
              <a:srgbClr val="1B2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868680" y="4169664"/>
            <a:ext cx="14630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850"/>
              <a:buFont typeface="Nanum Gothic Coding"/>
              <a:buNone/>
            </a:pPr>
            <a:r>
              <a:rPr b="0" i="0" lang="en-US" sz="85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데이터 저장</a:t>
            </a:r>
            <a:endParaRPr b="0" i="0" sz="8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2834640" y="4169664"/>
            <a:ext cx="10972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50"/>
              <a:buFont typeface="Nanum Gothic Coding"/>
              <a:buNone/>
            </a:pPr>
            <a:r>
              <a:rPr b="0" i="0" lang="en-US" sz="850" u="none" cap="none" strike="noStrike">
                <a:solidFill>
                  <a:srgbClr val="38BDF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pending</a:t>
            </a:r>
            <a:endParaRPr b="0" i="0" sz="8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5029200" y="4169664"/>
            <a:ext cx="53035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850"/>
              <a:buFont typeface="Nanum Gothic Coding"/>
              <a:buNone/>
            </a:pPr>
            <a:r>
              <a:rPr b="0" i="0" lang="en-US" sz="85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회원/프로필/갤러리 영속화 미구현</a:t>
            </a:r>
            <a:endParaRPr b="0" i="0" sz="8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685800" y="4544568"/>
            <a:ext cx="10424160" cy="402336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1B2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9"/>
          <p:cNvSpPr/>
          <p:nvPr/>
        </p:nvSpPr>
        <p:spPr>
          <a:xfrm>
            <a:off x="868680" y="4663440"/>
            <a:ext cx="14630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850"/>
              <a:buFont typeface="Nanum Gothic Coding"/>
              <a:buNone/>
            </a:pPr>
            <a:r>
              <a:rPr b="0" i="0" lang="en-US" sz="85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배포</a:t>
            </a:r>
            <a:endParaRPr b="0" i="0" sz="8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2834640" y="4663440"/>
            <a:ext cx="10972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50"/>
              <a:buFont typeface="Nanum Gothic Coding"/>
              <a:buNone/>
            </a:pPr>
            <a:r>
              <a:rPr b="0" i="0" lang="en-US" sz="850" u="none" cap="none" strike="noStrike">
                <a:solidFill>
                  <a:srgbClr val="38BDF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pending</a:t>
            </a:r>
            <a:endParaRPr b="0" i="0" sz="8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5029200" y="4663440"/>
            <a:ext cx="53035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850"/>
              <a:buFont typeface="Nanum Gothic Coding"/>
              <a:buNone/>
            </a:pPr>
            <a:r>
              <a:rPr b="0" i="0" lang="en-US" sz="85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정적 빌드 배포와 링크 연결 필요</a:t>
            </a:r>
            <a:endParaRPr b="0" i="0" sz="8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06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6"/>
          </a:solidFill>
          <a:ln cap="flat" cmpd="sng" w="12700">
            <a:solidFill>
              <a:srgbClr val="05080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0"/>
          <p:cNvSpPr/>
          <p:nvPr/>
        </p:nvSpPr>
        <p:spPr>
          <a:xfrm>
            <a:off x="201168" y="91440"/>
            <a:ext cx="1828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500"/>
              <a:buFont typeface="Nanum Gothic Coding"/>
              <a:buNone/>
            </a:pPr>
            <a:r>
              <a:rPr b="0" i="0" lang="en-US" sz="50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linux/presentation-template</a:t>
            </a:r>
            <a:endParaRPr b="0" i="0" sz="5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11594592" y="100584"/>
            <a:ext cx="41148" cy="41148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0"/>
          <p:cNvSpPr/>
          <p:nvPr/>
        </p:nvSpPr>
        <p:spPr>
          <a:xfrm>
            <a:off x="11695176" y="100584"/>
            <a:ext cx="41148" cy="41148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"/>
          <p:cNvSpPr/>
          <p:nvPr/>
        </p:nvSpPr>
        <p:spPr>
          <a:xfrm>
            <a:off x="11795760" y="100584"/>
            <a:ext cx="41148" cy="41148"/>
          </a:xfrm>
          <a:prstGeom prst="ellipse">
            <a:avLst/>
          </a:prstGeom>
          <a:solidFill>
            <a:srgbClr val="00E676"/>
          </a:solidFill>
          <a:ln cap="flat" cmpd="sng" w="12700">
            <a:solidFill>
              <a:srgbClr val="00E67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0"/>
          <p:cNvSpPr/>
          <p:nvPr/>
        </p:nvSpPr>
        <p:spPr>
          <a:xfrm>
            <a:off x="502920" y="393192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900"/>
              <a:buFont typeface="Nanum Gothic Coding"/>
              <a:buNone/>
            </a:pPr>
            <a:r>
              <a:rPr b="1" i="0" lang="en-US" sz="900" u="none" cap="none" strike="noStrike">
                <a:solidFill>
                  <a:srgbClr val="00E67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$ exit 0</a:t>
            </a:r>
            <a:endParaRPr b="0" i="0" sz="9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201168" y="6629400"/>
            <a:ext cx="18288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450"/>
              <a:buFont typeface="Nanum Gothic Coding"/>
              <a:buNone/>
            </a:pPr>
            <a:r>
              <a:rPr b="0" i="0" lang="en-US" sz="4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user@linux:~/react-study-project</a:t>
            </a:r>
            <a:endParaRPr b="0" i="0" sz="4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9555480" y="6620256"/>
            <a:ext cx="23774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450"/>
              <a:buFont typeface="Nanum Gothic Coding"/>
              <a:buNone/>
            </a:pPr>
            <a:r>
              <a:rPr b="0" i="0" lang="en-US" sz="4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10  |  npm run dev  |  react + vite</a:t>
            </a:r>
            <a:endParaRPr b="0" i="0" sz="4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594360" y="768096"/>
            <a:ext cx="10972800" cy="5440680"/>
          </a:xfrm>
          <a:prstGeom prst="roundRect">
            <a:avLst>
              <a:gd fmla="val 504" name="adj"/>
            </a:avLst>
          </a:prstGeom>
          <a:solidFill>
            <a:srgbClr val="10151B"/>
          </a:solidFill>
          <a:ln cap="flat" cmpd="sng" w="12700">
            <a:solidFill>
              <a:srgbClr val="1B6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0"/>
          <p:cNvSpPr/>
          <p:nvPr/>
        </p:nvSpPr>
        <p:spPr>
          <a:xfrm>
            <a:off x="612648" y="786384"/>
            <a:ext cx="10936224" cy="301752"/>
          </a:xfrm>
          <a:prstGeom prst="rect">
            <a:avLst/>
          </a:prstGeom>
          <a:solidFill>
            <a:srgbClr val="121D18"/>
          </a:solidFill>
          <a:ln cap="flat" cmpd="sng" w="12700">
            <a:solidFill>
              <a:srgbClr val="121D1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0"/>
          <p:cNvSpPr/>
          <p:nvPr/>
        </p:nvSpPr>
        <p:spPr>
          <a:xfrm>
            <a:off x="740664" y="886968"/>
            <a:ext cx="50292" cy="50292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0"/>
          <p:cNvSpPr/>
          <p:nvPr/>
        </p:nvSpPr>
        <p:spPr>
          <a:xfrm>
            <a:off x="859536" y="886968"/>
            <a:ext cx="50292" cy="50292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0"/>
          <p:cNvSpPr/>
          <p:nvPr/>
        </p:nvSpPr>
        <p:spPr>
          <a:xfrm>
            <a:off x="978408" y="886968"/>
            <a:ext cx="50292" cy="50292"/>
          </a:xfrm>
          <a:prstGeom prst="ellipse">
            <a:avLst/>
          </a:prstGeom>
          <a:solidFill>
            <a:srgbClr val="00E676"/>
          </a:solidFill>
          <a:ln cap="flat" cmpd="sng" w="12700">
            <a:solidFill>
              <a:srgbClr val="00E67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0"/>
          <p:cNvSpPr/>
          <p:nvPr/>
        </p:nvSpPr>
        <p:spPr>
          <a:xfrm>
            <a:off x="1179576" y="859536"/>
            <a:ext cx="1024128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550"/>
              <a:buFont typeface="Nanum Gothic Coding"/>
              <a:buNone/>
            </a:pPr>
            <a:r>
              <a:rPr b="0" i="0" lang="en-US" sz="5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presentation</a:t>
            </a:r>
            <a:endParaRPr b="0" i="0" sz="5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868680" y="1828800"/>
            <a:ext cx="4663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3100"/>
              <a:buFont typeface="Nanum Gothic Coding"/>
              <a:buNone/>
            </a:pPr>
            <a:r>
              <a:rPr b="1" i="0" lang="en-US" sz="31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&lt;THANK_YOU&gt;</a:t>
            </a:r>
            <a:endParaRPr b="0" i="0" sz="31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896112" y="2761488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900"/>
              <a:buFont typeface="Nanum Gothic Coding"/>
              <a:buNone/>
            </a:pPr>
            <a:r>
              <a:rPr b="1" i="0" lang="en-US" sz="900" u="none" cap="none" strike="noStrike">
                <a:solidFill>
                  <a:srgbClr val="00E67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Demo path</a:t>
            </a:r>
            <a:endParaRPr b="0" i="0" sz="9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868680" y="3154680"/>
            <a:ext cx="4206240" cy="1508760"/>
          </a:xfrm>
          <a:prstGeom prst="roundRect">
            <a:avLst>
              <a:gd fmla="val 1818" name="adj"/>
            </a:avLst>
          </a:prstGeom>
          <a:solidFill>
            <a:srgbClr val="10151B"/>
          </a:solidFill>
          <a:ln cap="flat" cmpd="sng" w="12700">
            <a:solidFill>
              <a:srgbClr val="1B6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0"/>
          <p:cNvSpPr/>
          <p:nvPr/>
        </p:nvSpPr>
        <p:spPr>
          <a:xfrm>
            <a:off x="886968" y="3172968"/>
            <a:ext cx="4169664" cy="301752"/>
          </a:xfrm>
          <a:prstGeom prst="rect">
            <a:avLst/>
          </a:prstGeom>
          <a:solidFill>
            <a:srgbClr val="121D18"/>
          </a:solidFill>
          <a:ln cap="flat" cmpd="sng" w="12700">
            <a:solidFill>
              <a:srgbClr val="121D1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"/>
          <p:cNvSpPr/>
          <p:nvPr/>
        </p:nvSpPr>
        <p:spPr>
          <a:xfrm>
            <a:off x="1014984" y="3273552"/>
            <a:ext cx="50292" cy="50292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0"/>
          <p:cNvSpPr/>
          <p:nvPr/>
        </p:nvSpPr>
        <p:spPr>
          <a:xfrm>
            <a:off x="1133856" y="3273552"/>
            <a:ext cx="50292" cy="50292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0"/>
          <p:cNvSpPr/>
          <p:nvPr/>
        </p:nvSpPr>
        <p:spPr>
          <a:xfrm>
            <a:off x="1252728" y="3273552"/>
            <a:ext cx="50292" cy="50292"/>
          </a:xfrm>
          <a:prstGeom prst="ellipse">
            <a:avLst/>
          </a:prstGeom>
          <a:solidFill>
            <a:srgbClr val="00E676"/>
          </a:solidFill>
          <a:ln cap="flat" cmpd="sng" w="12700">
            <a:solidFill>
              <a:srgbClr val="00E67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0"/>
          <p:cNvSpPr/>
          <p:nvPr/>
        </p:nvSpPr>
        <p:spPr>
          <a:xfrm>
            <a:off x="1453896" y="3246120"/>
            <a:ext cx="347472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550"/>
              <a:buFont typeface="Nanum Gothic Coding"/>
              <a:buNone/>
            </a:pPr>
            <a:r>
              <a:rPr b="0" i="0" lang="en-US" sz="5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demo.sh</a:t>
            </a:r>
            <a:endParaRPr b="0" i="0" sz="5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1124712" y="3657600"/>
            <a:ext cx="3767328" cy="85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100"/>
              <a:buFont typeface="Nanum Gothic Coding"/>
              <a:buNone/>
            </a:pPr>
            <a:r>
              <a:rPr b="0" i="0" lang="en-US" sz="11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$ npm run dev</a:t>
            </a:r>
            <a:endParaRPr b="0" i="0" sz="11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100"/>
              <a:buFont typeface="Nanum Gothic Coding"/>
              <a:buNone/>
            </a:pPr>
            <a:r>
              <a:rPr b="0" i="0" lang="en-US" sz="11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$ login       # lee / 1234</a:t>
            </a:r>
            <a:endParaRPr b="0" i="0" sz="11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100"/>
              <a:buFont typeface="Nanum Gothic Coding"/>
              <a:buNone/>
            </a:pPr>
            <a:r>
              <a:rPr b="0" i="0" lang="en-US" sz="11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$ help</a:t>
            </a:r>
            <a:endParaRPr b="0" i="0" sz="11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100"/>
              <a:buFont typeface="Nanum Gothic Coding"/>
              <a:buNone/>
            </a:pPr>
            <a:r>
              <a:rPr b="0" i="0" lang="en-US" sz="11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$ hobby</a:t>
            </a:r>
            <a:endParaRPr b="0" i="0" sz="11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100"/>
              <a:buFont typeface="Nanum Gothic Coding"/>
              <a:buNone/>
            </a:pPr>
            <a:r>
              <a:rPr b="0" i="0" lang="en-US" sz="11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$ whoami</a:t>
            </a:r>
            <a:endParaRPr b="0" i="0" sz="11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6400800" y="297180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A8"/>
              </a:buClr>
              <a:buSzPts val="1300"/>
              <a:buFont typeface="Nanum Gothic Coding"/>
              <a:buNone/>
            </a:pPr>
            <a:r>
              <a:rPr b="0" i="0" lang="en-US" sz="1300" u="none" cap="none" strike="noStrike">
                <a:solidFill>
                  <a:srgbClr val="A8B0A8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Q&amp;A / next action: 배포, 테스트, 인증/데이터 저장 구조화</a:t>
            </a:r>
            <a:endParaRPr b="0" i="0" sz="13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914400" y="5349240"/>
            <a:ext cx="3931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5F2A"/>
              </a:buClr>
              <a:buSzPts val="730"/>
              <a:buFont typeface="Nanum Gothic Coding"/>
              <a:buNone/>
            </a:pPr>
            <a:r>
              <a:rPr b="0" i="0" lang="en-US" sz="730" u="none" cap="none" strike="noStrike">
                <a:solidFill>
                  <a:srgbClr val="0B5F2A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Connection to presentation closed.</a:t>
            </a:r>
            <a:endParaRPr b="0" i="0" sz="73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06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5796fdbd1_0_1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50806"/>
          </a:solidFill>
          <a:ln cap="flat" cmpd="sng" w="12700">
            <a:solidFill>
              <a:srgbClr val="05080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3f5796fdbd1_0_10"/>
          <p:cNvSpPr/>
          <p:nvPr/>
        </p:nvSpPr>
        <p:spPr>
          <a:xfrm>
            <a:off x="201168" y="91440"/>
            <a:ext cx="1828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500"/>
              <a:buFont typeface="Nanum Gothic Coding"/>
              <a:buNone/>
            </a:pPr>
            <a:r>
              <a:rPr b="0" i="0" lang="en-US" sz="50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linux/presentation-template</a:t>
            </a:r>
            <a:endParaRPr b="0" i="0" sz="5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77" name="Google Shape;377;g3f5796fdbd1_0_10"/>
          <p:cNvSpPr/>
          <p:nvPr/>
        </p:nvSpPr>
        <p:spPr>
          <a:xfrm>
            <a:off x="11594592" y="100584"/>
            <a:ext cx="41100" cy="41100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f5796fdbd1_0_10"/>
          <p:cNvSpPr/>
          <p:nvPr/>
        </p:nvSpPr>
        <p:spPr>
          <a:xfrm>
            <a:off x="11695176" y="100584"/>
            <a:ext cx="41100" cy="41100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f5796fdbd1_0_10"/>
          <p:cNvSpPr/>
          <p:nvPr/>
        </p:nvSpPr>
        <p:spPr>
          <a:xfrm>
            <a:off x="11795760" y="100584"/>
            <a:ext cx="41100" cy="41100"/>
          </a:xfrm>
          <a:prstGeom prst="ellipse">
            <a:avLst/>
          </a:prstGeom>
          <a:solidFill>
            <a:srgbClr val="00E676"/>
          </a:solidFill>
          <a:ln cap="flat" cmpd="sng" w="12700">
            <a:solidFill>
              <a:srgbClr val="00E67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f5796fdbd1_0_10"/>
          <p:cNvSpPr/>
          <p:nvPr/>
        </p:nvSpPr>
        <p:spPr>
          <a:xfrm>
            <a:off x="502920" y="393192"/>
            <a:ext cx="5303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900"/>
              <a:buFont typeface="Nanum Gothic Coding"/>
              <a:buNone/>
            </a:pPr>
            <a:r>
              <a:rPr b="1" i="0" lang="en-US" sz="900" u="none" cap="none" strike="noStrike">
                <a:solidFill>
                  <a:srgbClr val="00E67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$ exit 0</a:t>
            </a:r>
            <a:endParaRPr b="0" i="0" sz="9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81" name="Google Shape;381;g3f5796fdbd1_0_10"/>
          <p:cNvSpPr/>
          <p:nvPr/>
        </p:nvSpPr>
        <p:spPr>
          <a:xfrm>
            <a:off x="201168" y="6629400"/>
            <a:ext cx="18288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450"/>
              <a:buFont typeface="Nanum Gothic Coding"/>
              <a:buNone/>
            </a:pPr>
            <a:r>
              <a:rPr b="0" i="0" lang="en-US" sz="4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user@linux:~/react-study-project</a:t>
            </a:r>
            <a:endParaRPr b="0" i="0" sz="4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82" name="Google Shape;382;g3f5796fdbd1_0_10"/>
          <p:cNvSpPr/>
          <p:nvPr/>
        </p:nvSpPr>
        <p:spPr>
          <a:xfrm>
            <a:off x="9555480" y="6620256"/>
            <a:ext cx="2377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450"/>
              <a:buFont typeface="Nanum Gothic Coding"/>
              <a:buNone/>
            </a:pPr>
            <a:r>
              <a:rPr b="0" i="0" lang="en-US" sz="4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10  |  npm run dev  |  react + vite</a:t>
            </a:r>
            <a:endParaRPr b="0" i="0" sz="4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83" name="Google Shape;383;g3f5796fdbd1_0_10"/>
          <p:cNvSpPr/>
          <p:nvPr/>
        </p:nvSpPr>
        <p:spPr>
          <a:xfrm>
            <a:off x="594360" y="768096"/>
            <a:ext cx="10972800" cy="5440800"/>
          </a:xfrm>
          <a:prstGeom prst="roundRect">
            <a:avLst>
              <a:gd fmla="val 504" name="adj"/>
            </a:avLst>
          </a:prstGeom>
          <a:solidFill>
            <a:srgbClr val="10151B"/>
          </a:solidFill>
          <a:ln cap="flat" cmpd="sng" w="12700">
            <a:solidFill>
              <a:srgbClr val="1B6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f5796fdbd1_0_10"/>
          <p:cNvSpPr/>
          <p:nvPr/>
        </p:nvSpPr>
        <p:spPr>
          <a:xfrm>
            <a:off x="612648" y="786384"/>
            <a:ext cx="10936200" cy="301800"/>
          </a:xfrm>
          <a:prstGeom prst="rect">
            <a:avLst/>
          </a:prstGeom>
          <a:solidFill>
            <a:srgbClr val="121D18"/>
          </a:solidFill>
          <a:ln cap="flat" cmpd="sng" w="12700">
            <a:solidFill>
              <a:srgbClr val="121D1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f5796fdbd1_0_10"/>
          <p:cNvSpPr/>
          <p:nvPr/>
        </p:nvSpPr>
        <p:spPr>
          <a:xfrm>
            <a:off x="740664" y="886968"/>
            <a:ext cx="50400" cy="50400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f5796fdbd1_0_10"/>
          <p:cNvSpPr/>
          <p:nvPr/>
        </p:nvSpPr>
        <p:spPr>
          <a:xfrm>
            <a:off x="859536" y="886968"/>
            <a:ext cx="50400" cy="50400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3f5796fdbd1_0_10"/>
          <p:cNvSpPr/>
          <p:nvPr/>
        </p:nvSpPr>
        <p:spPr>
          <a:xfrm>
            <a:off x="978408" y="886968"/>
            <a:ext cx="50400" cy="50400"/>
          </a:xfrm>
          <a:prstGeom prst="ellipse">
            <a:avLst/>
          </a:prstGeom>
          <a:solidFill>
            <a:srgbClr val="00E676"/>
          </a:solidFill>
          <a:ln cap="flat" cmpd="sng" w="12700">
            <a:solidFill>
              <a:srgbClr val="00E67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f5796fdbd1_0_10"/>
          <p:cNvSpPr/>
          <p:nvPr/>
        </p:nvSpPr>
        <p:spPr>
          <a:xfrm>
            <a:off x="1179576" y="859536"/>
            <a:ext cx="10241400" cy="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550"/>
              <a:buFont typeface="Nanum Gothic Coding"/>
              <a:buNone/>
            </a:pPr>
            <a:r>
              <a:rPr b="0" i="0" lang="en-US" sz="5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presentation</a:t>
            </a:r>
            <a:endParaRPr b="0" i="0" sz="5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89" name="Google Shape;389;g3f5796fdbd1_0_10"/>
          <p:cNvSpPr/>
          <p:nvPr/>
        </p:nvSpPr>
        <p:spPr>
          <a:xfrm>
            <a:off x="868680" y="1828800"/>
            <a:ext cx="46635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3100"/>
              <a:buFont typeface="Nanum Gothic Coding"/>
              <a:buNone/>
            </a:pPr>
            <a:r>
              <a:rPr b="1" i="0" lang="en-US" sz="31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&lt;</a:t>
            </a:r>
            <a:r>
              <a:rPr b="1" lang="en-US" sz="3100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Question?</a:t>
            </a:r>
            <a:r>
              <a:rPr b="1" i="0" lang="en-US" sz="31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&gt;</a:t>
            </a:r>
            <a:endParaRPr b="0" i="0" sz="310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90" name="Google Shape;390;g3f5796fdbd1_0_10"/>
          <p:cNvSpPr/>
          <p:nvPr/>
        </p:nvSpPr>
        <p:spPr>
          <a:xfrm>
            <a:off x="868673" y="3154675"/>
            <a:ext cx="6143700" cy="1508700"/>
          </a:xfrm>
          <a:prstGeom prst="roundRect">
            <a:avLst>
              <a:gd fmla="val 1818" name="adj"/>
            </a:avLst>
          </a:prstGeom>
          <a:solidFill>
            <a:srgbClr val="10151B"/>
          </a:solidFill>
          <a:ln cap="flat" cmpd="sng" w="12700">
            <a:solidFill>
              <a:srgbClr val="1B6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f5796fdbd1_0_10"/>
          <p:cNvSpPr/>
          <p:nvPr/>
        </p:nvSpPr>
        <p:spPr>
          <a:xfrm>
            <a:off x="886968" y="3172968"/>
            <a:ext cx="4169700" cy="301800"/>
          </a:xfrm>
          <a:prstGeom prst="rect">
            <a:avLst/>
          </a:prstGeom>
          <a:solidFill>
            <a:srgbClr val="121D18"/>
          </a:solidFill>
          <a:ln cap="flat" cmpd="sng" w="12700">
            <a:solidFill>
              <a:srgbClr val="121D1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3f5796fdbd1_0_10"/>
          <p:cNvSpPr/>
          <p:nvPr/>
        </p:nvSpPr>
        <p:spPr>
          <a:xfrm>
            <a:off x="1014984" y="3273552"/>
            <a:ext cx="50400" cy="50400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f5796fdbd1_0_10"/>
          <p:cNvSpPr/>
          <p:nvPr/>
        </p:nvSpPr>
        <p:spPr>
          <a:xfrm>
            <a:off x="1133856" y="3273552"/>
            <a:ext cx="50400" cy="50400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f5796fdbd1_0_10"/>
          <p:cNvSpPr/>
          <p:nvPr/>
        </p:nvSpPr>
        <p:spPr>
          <a:xfrm>
            <a:off x="1252728" y="3273552"/>
            <a:ext cx="50400" cy="50400"/>
          </a:xfrm>
          <a:prstGeom prst="ellipse">
            <a:avLst/>
          </a:prstGeom>
          <a:solidFill>
            <a:srgbClr val="00E676"/>
          </a:solidFill>
          <a:ln cap="flat" cmpd="sng" w="12700">
            <a:solidFill>
              <a:srgbClr val="00E67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g3f5796fdbd1_0_10"/>
          <p:cNvSpPr/>
          <p:nvPr/>
        </p:nvSpPr>
        <p:spPr>
          <a:xfrm>
            <a:off x="1453896" y="3246120"/>
            <a:ext cx="3474600" cy="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67"/>
              </a:buClr>
              <a:buSzPts val="550"/>
              <a:buFont typeface="Nanum Gothic Coding"/>
              <a:buNone/>
            </a:pPr>
            <a:r>
              <a:rPr b="0" i="0" lang="en-US" sz="550" u="none" cap="none" strike="noStrike">
                <a:solidFill>
                  <a:srgbClr val="65706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demo.sh</a:t>
            </a:r>
            <a:endParaRPr b="0" i="0" sz="55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96" name="Google Shape;396;g3f5796fdbd1_0_10"/>
          <p:cNvSpPr/>
          <p:nvPr/>
        </p:nvSpPr>
        <p:spPr>
          <a:xfrm>
            <a:off x="1124694" y="3657600"/>
            <a:ext cx="56334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100"/>
              <a:buFont typeface="Nanum Gothic Coding"/>
              <a:buNone/>
            </a:pPr>
            <a:r>
              <a:rPr b="0" i="0" lang="en-US" sz="1100" u="none" cap="none" strike="noStrike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$ </a:t>
            </a:r>
            <a:r>
              <a:rPr lang="en-US" sz="1100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systemctl project-ppt stop </a:t>
            </a:r>
            <a:endParaRPr sz="1100">
              <a:solidFill>
                <a:srgbClr val="E9F0E9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100"/>
              <a:buFont typeface="Nanum Gothic Coding"/>
              <a:buNone/>
            </a:pPr>
            <a:r>
              <a:rPr lang="en-US" sz="1100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$ ( ﾉ ﾟｰﾟ)ﾉ</a:t>
            </a:r>
            <a:endParaRPr sz="1100">
              <a:solidFill>
                <a:srgbClr val="E9F0E9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100"/>
              <a:buFont typeface="Nanum Gothic Coding"/>
              <a:buNone/>
            </a:pPr>
            <a:r>
              <a:rPr lang="en-US" sz="1100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$ ( ﾉ ﾟｰﾟ)ﾉ</a:t>
            </a:r>
            <a:endParaRPr sz="1100">
              <a:solidFill>
                <a:srgbClr val="E9F0E9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100"/>
              <a:buFont typeface="Nanum Gothic Coding"/>
              <a:buNone/>
            </a:pPr>
            <a:r>
              <a:rPr lang="en-US" sz="1100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$ Jul 21 server systemd[1]: Stopping project-ppt server...</a:t>
            </a:r>
            <a:endParaRPr sz="1100">
              <a:solidFill>
                <a:srgbClr val="E9F0E9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9F0E9"/>
              </a:buClr>
              <a:buSzPts val="1100"/>
              <a:buFont typeface="Nanum Gothic Coding"/>
              <a:buNone/>
            </a:pPr>
            <a:r>
              <a:rPr lang="en-US" sz="1100">
                <a:solidFill>
                  <a:srgbClr val="E9F0E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$ Jul 21 server systemd[1]: Stopped project-ppt server. </a:t>
            </a:r>
            <a:endParaRPr sz="1100">
              <a:solidFill>
                <a:srgbClr val="E9F0E9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97" name="Google Shape;397;g3f5796fdbd1_0_10"/>
          <p:cNvSpPr/>
          <p:nvPr/>
        </p:nvSpPr>
        <p:spPr>
          <a:xfrm>
            <a:off x="914400" y="5349240"/>
            <a:ext cx="3931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5F2A"/>
              </a:buClr>
              <a:buSzPts val="730"/>
              <a:buFont typeface="Nanum Gothic Coding"/>
              <a:buNone/>
            </a:pPr>
            <a:r>
              <a:rPr b="0" i="0" lang="en-US" sz="730" u="none" cap="none" strike="noStrike">
                <a:solidFill>
                  <a:srgbClr val="0B5F2A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Connection to presentation closed.</a:t>
            </a:r>
            <a:endParaRPr b="0" i="0" sz="730" u="none" cap="none" strike="noStrike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2026-07-20T23:31:18Z</dcterms:created>
  <dc:creator>OpenAI</dc:creator>
</cp:coreProperties>
</file>